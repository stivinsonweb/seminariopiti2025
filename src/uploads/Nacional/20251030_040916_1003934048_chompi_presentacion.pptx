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8" r:id="rId3"/>
    <p:sldId id="257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59" r:id="rId13"/>
  </p:sldIdLst>
  <p:sldSz cx="11466513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5" autoAdjust="0"/>
    <p:restoredTop sz="94660"/>
  </p:normalViewPr>
  <p:slideViewPr>
    <p:cSldViewPr snapToGrid="0">
      <p:cViewPr varScale="1">
        <p:scale>
          <a:sx n="62" d="100"/>
          <a:sy n="62" d="100"/>
        </p:scale>
        <p:origin x="72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O" sz="1400" dirty="0">
                <a:solidFill>
                  <a:schemeClr val="accent1">
                    <a:lumMod val="75000"/>
                  </a:schemeClr>
                </a:solidFill>
              </a:rPr>
              <a:t>Gastos mensuales en transporte en las principales ciudades</a:t>
            </a:r>
            <a:r>
              <a:rPr lang="es-CO" sz="1400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endParaRPr lang="es-CO" sz="1400" dirty="0">
              <a:solidFill>
                <a:schemeClr val="accent1">
                  <a:lumMod val="75000"/>
                </a:scheme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>
        <c:manualLayout>
          <c:layoutTarget val="inner"/>
          <c:xMode val="edge"/>
          <c:yMode val="edge"/>
          <c:x val="8.6413323736693096E-2"/>
          <c:y val="0.15708578972526346"/>
          <c:w val="0.88700492468808956"/>
          <c:h val="0.7527753860306093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Ciudades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Hoja1!$A$2:$A$6</c:f>
              <c:strCache>
                <c:ptCount val="5"/>
                <c:pt idx="0">
                  <c:v>Bogotá</c:v>
                </c:pt>
                <c:pt idx="1">
                  <c:v>Cali</c:v>
                </c:pt>
                <c:pt idx="2">
                  <c:v>Ibagué</c:v>
                </c:pt>
                <c:pt idx="3">
                  <c:v>Quibdó</c:v>
                </c:pt>
                <c:pt idx="4">
                  <c:v>Medellín</c:v>
                </c:pt>
              </c:strCache>
            </c:strRef>
          </c:cat>
          <c:val>
            <c:numRef>
              <c:f>Hoja1!$B$2:$B$6</c:f>
              <c:numCache>
                <c:formatCode>#,##0</c:formatCode>
                <c:ptCount val="5"/>
                <c:pt idx="0">
                  <c:v>128000</c:v>
                </c:pt>
                <c:pt idx="1">
                  <c:v>198400</c:v>
                </c:pt>
                <c:pt idx="2">
                  <c:v>180000</c:v>
                </c:pt>
                <c:pt idx="3">
                  <c:v>350000</c:v>
                </c:pt>
                <c:pt idx="4">
                  <c:v>110000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E8A-4D43-87C3-63DB46395474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UTCH CHOMPI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Hoja1!$A$2:$A$6</c:f>
              <c:strCache>
                <c:ptCount val="5"/>
                <c:pt idx="0">
                  <c:v>Bogotá</c:v>
                </c:pt>
                <c:pt idx="1">
                  <c:v>Cali</c:v>
                </c:pt>
                <c:pt idx="2">
                  <c:v>Ibagué</c:v>
                </c:pt>
                <c:pt idx="3">
                  <c:v>Quibdó</c:v>
                </c:pt>
                <c:pt idx="4">
                  <c:v>Medellín</c:v>
                </c:pt>
              </c:strCache>
            </c:strRef>
          </c:cat>
          <c:val>
            <c:numRef>
              <c:f>Hoja1!$C$2:$C$6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 formatCode="#,##0">
                  <c:v>60000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E8A-4D43-87C3-63DB463954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66544320"/>
        <c:axId val="766543072"/>
      </c:barChart>
      <c:catAx>
        <c:axId val="7665443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766543072"/>
        <c:crosses val="autoZero"/>
        <c:auto val="1"/>
        <c:lblAlgn val="ctr"/>
        <c:lblOffset val="100"/>
        <c:noMultiLvlLbl val="0"/>
      </c:catAx>
      <c:valAx>
        <c:axId val="7665430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7665443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3314" y="1122363"/>
            <a:ext cx="8599885" cy="2387600"/>
          </a:xfrm>
        </p:spPr>
        <p:txBody>
          <a:bodyPr anchor="b"/>
          <a:lstStyle>
            <a:lvl1pPr algn="ctr">
              <a:defRPr sz="5643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33314" y="3602038"/>
            <a:ext cx="8599885" cy="1655762"/>
          </a:xfrm>
        </p:spPr>
        <p:txBody>
          <a:bodyPr/>
          <a:lstStyle>
            <a:lvl1pPr marL="0" indent="0" algn="ctr">
              <a:buNone/>
              <a:defRPr sz="2257"/>
            </a:lvl1pPr>
            <a:lvl2pPr marL="429997" indent="0" algn="ctr">
              <a:buNone/>
              <a:defRPr sz="1881"/>
            </a:lvl2pPr>
            <a:lvl3pPr marL="859993" indent="0" algn="ctr">
              <a:buNone/>
              <a:defRPr sz="1693"/>
            </a:lvl3pPr>
            <a:lvl4pPr marL="1289990" indent="0" algn="ctr">
              <a:buNone/>
              <a:defRPr sz="1505"/>
            </a:lvl4pPr>
            <a:lvl5pPr marL="1719986" indent="0" algn="ctr">
              <a:buNone/>
              <a:defRPr sz="1505"/>
            </a:lvl5pPr>
            <a:lvl6pPr marL="2149983" indent="0" algn="ctr">
              <a:buNone/>
              <a:defRPr sz="1505"/>
            </a:lvl6pPr>
            <a:lvl7pPr marL="2579980" indent="0" algn="ctr">
              <a:buNone/>
              <a:defRPr sz="1505"/>
            </a:lvl7pPr>
            <a:lvl8pPr marL="3009976" indent="0" algn="ctr">
              <a:buNone/>
              <a:defRPr sz="1505"/>
            </a:lvl8pPr>
            <a:lvl9pPr marL="3439973" indent="0" algn="ctr">
              <a:buNone/>
              <a:defRPr sz="1505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CD499-ABA9-4152-BE4C-9EA52FE70224}" type="datetimeFigureOut">
              <a:rPr lang="es-CO" smtClean="0"/>
              <a:t>28/10/2025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26DD-4AE3-436B-966F-19A41F6DCB4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64322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CD499-ABA9-4152-BE4C-9EA52FE70224}" type="datetimeFigureOut">
              <a:rPr lang="es-CO" smtClean="0"/>
              <a:t>28/10/2025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26DD-4AE3-436B-966F-19A41F6DCB4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81905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351" y="1709739"/>
            <a:ext cx="9889867" cy="2852737"/>
          </a:xfrm>
        </p:spPr>
        <p:txBody>
          <a:bodyPr anchor="b"/>
          <a:lstStyle>
            <a:lvl1pPr>
              <a:defRPr sz="5643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351" y="4589464"/>
            <a:ext cx="9889867" cy="1500187"/>
          </a:xfrm>
        </p:spPr>
        <p:txBody>
          <a:bodyPr/>
          <a:lstStyle>
            <a:lvl1pPr marL="0" indent="0">
              <a:buNone/>
              <a:defRPr sz="2257">
                <a:solidFill>
                  <a:schemeClr val="tx1">
                    <a:tint val="75000"/>
                  </a:schemeClr>
                </a:solidFill>
              </a:defRPr>
            </a:lvl1pPr>
            <a:lvl2pPr marL="429997" indent="0">
              <a:buNone/>
              <a:defRPr sz="1881">
                <a:solidFill>
                  <a:schemeClr val="tx1">
                    <a:tint val="75000"/>
                  </a:schemeClr>
                </a:solidFill>
              </a:defRPr>
            </a:lvl2pPr>
            <a:lvl3pPr marL="859993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3pPr>
            <a:lvl4pPr marL="1289990" indent="0">
              <a:buNone/>
              <a:defRPr sz="1505">
                <a:solidFill>
                  <a:schemeClr val="tx1">
                    <a:tint val="75000"/>
                  </a:schemeClr>
                </a:solidFill>
              </a:defRPr>
            </a:lvl4pPr>
            <a:lvl5pPr marL="1719986" indent="0">
              <a:buNone/>
              <a:defRPr sz="1505">
                <a:solidFill>
                  <a:schemeClr val="tx1">
                    <a:tint val="75000"/>
                  </a:schemeClr>
                </a:solidFill>
              </a:defRPr>
            </a:lvl5pPr>
            <a:lvl6pPr marL="2149983" indent="0">
              <a:buNone/>
              <a:defRPr sz="1505">
                <a:solidFill>
                  <a:schemeClr val="tx1">
                    <a:tint val="75000"/>
                  </a:schemeClr>
                </a:solidFill>
              </a:defRPr>
            </a:lvl6pPr>
            <a:lvl7pPr marL="2579980" indent="0">
              <a:buNone/>
              <a:defRPr sz="1505">
                <a:solidFill>
                  <a:schemeClr val="tx1">
                    <a:tint val="75000"/>
                  </a:schemeClr>
                </a:solidFill>
              </a:defRPr>
            </a:lvl7pPr>
            <a:lvl8pPr marL="3009976" indent="0">
              <a:buNone/>
              <a:defRPr sz="1505">
                <a:solidFill>
                  <a:schemeClr val="tx1">
                    <a:tint val="75000"/>
                  </a:schemeClr>
                </a:solidFill>
              </a:defRPr>
            </a:lvl8pPr>
            <a:lvl9pPr marL="3439973" indent="0">
              <a:buNone/>
              <a:defRPr sz="150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CD499-ABA9-4152-BE4C-9EA52FE70224}" type="datetimeFigureOut">
              <a:rPr lang="es-CO" smtClean="0"/>
              <a:t>28/10/2025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26DD-4AE3-436B-966F-19A41F6DCB4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9460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88323" y="1825625"/>
            <a:ext cx="4873268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4922" y="1825625"/>
            <a:ext cx="4873268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CD499-ABA9-4152-BE4C-9EA52FE70224}" type="datetimeFigureOut">
              <a:rPr lang="es-CO" smtClean="0"/>
              <a:t>28/10/2025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26DD-4AE3-436B-966F-19A41F6DCB4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40453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9817" y="365126"/>
            <a:ext cx="9889867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9817" y="1681163"/>
            <a:ext cx="4850872" cy="823912"/>
          </a:xfrm>
        </p:spPr>
        <p:txBody>
          <a:bodyPr anchor="b"/>
          <a:lstStyle>
            <a:lvl1pPr marL="0" indent="0">
              <a:buNone/>
              <a:defRPr sz="2257" b="1"/>
            </a:lvl1pPr>
            <a:lvl2pPr marL="429997" indent="0">
              <a:buNone/>
              <a:defRPr sz="1881" b="1"/>
            </a:lvl2pPr>
            <a:lvl3pPr marL="859993" indent="0">
              <a:buNone/>
              <a:defRPr sz="1693" b="1"/>
            </a:lvl3pPr>
            <a:lvl4pPr marL="1289990" indent="0">
              <a:buNone/>
              <a:defRPr sz="1505" b="1"/>
            </a:lvl4pPr>
            <a:lvl5pPr marL="1719986" indent="0">
              <a:buNone/>
              <a:defRPr sz="1505" b="1"/>
            </a:lvl5pPr>
            <a:lvl6pPr marL="2149983" indent="0">
              <a:buNone/>
              <a:defRPr sz="1505" b="1"/>
            </a:lvl6pPr>
            <a:lvl7pPr marL="2579980" indent="0">
              <a:buNone/>
              <a:defRPr sz="1505" b="1"/>
            </a:lvl7pPr>
            <a:lvl8pPr marL="3009976" indent="0">
              <a:buNone/>
              <a:defRPr sz="1505" b="1"/>
            </a:lvl8pPr>
            <a:lvl9pPr marL="3439973" indent="0">
              <a:buNone/>
              <a:defRPr sz="1505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9817" y="2505075"/>
            <a:ext cx="4850872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04922" y="1681163"/>
            <a:ext cx="4874762" cy="823912"/>
          </a:xfrm>
        </p:spPr>
        <p:txBody>
          <a:bodyPr anchor="b"/>
          <a:lstStyle>
            <a:lvl1pPr marL="0" indent="0">
              <a:buNone/>
              <a:defRPr sz="2257" b="1"/>
            </a:lvl1pPr>
            <a:lvl2pPr marL="429997" indent="0">
              <a:buNone/>
              <a:defRPr sz="1881" b="1"/>
            </a:lvl2pPr>
            <a:lvl3pPr marL="859993" indent="0">
              <a:buNone/>
              <a:defRPr sz="1693" b="1"/>
            </a:lvl3pPr>
            <a:lvl4pPr marL="1289990" indent="0">
              <a:buNone/>
              <a:defRPr sz="1505" b="1"/>
            </a:lvl4pPr>
            <a:lvl5pPr marL="1719986" indent="0">
              <a:buNone/>
              <a:defRPr sz="1505" b="1"/>
            </a:lvl5pPr>
            <a:lvl6pPr marL="2149983" indent="0">
              <a:buNone/>
              <a:defRPr sz="1505" b="1"/>
            </a:lvl6pPr>
            <a:lvl7pPr marL="2579980" indent="0">
              <a:buNone/>
              <a:defRPr sz="1505" b="1"/>
            </a:lvl7pPr>
            <a:lvl8pPr marL="3009976" indent="0">
              <a:buNone/>
              <a:defRPr sz="1505" b="1"/>
            </a:lvl8pPr>
            <a:lvl9pPr marL="3439973" indent="0">
              <a:buNone/>
              <a:defRPr sz="1505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4922" y="2505075"/>
            <a:ext cx="4874762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CD499-ABA9-4152-BE4C-9EA52FE70224}" type="datetimeFigureOut">
              <a:rPr lang="es-CO" smtClean="0"/>
              <a:t>28/10/2025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26DD-4AE3-436B-966F-19A41F6DCB4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29858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CD499-ABA9-4152-BE4C-9EA52FE70224}" type="datetimeFigureOut">
              <a:rPr lang="es-CO" smtClean="0"/>
              <a:t>28/10/2025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26DD-4AE3-436B-966F-19A41F6DCB4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48383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CD499-ABA9-4152-BE4C-9EA52FE70224}" type="datetimeFigureOut">
              <a:rPr lang="es-CO" smtClean="0"/>
              <a:t>28/10/2025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26DD-4AE3-436B-966F-19A41F6DCB4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06501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9817" y="457200"/>
            <a:ext cx="3698249" cy="1600200"/>
          </a:xfrm>
        </p:spPr>
        <p:txBody>
          <a:bodyPr anchor="b"/>
          <a:lstStyle>
            <a:lvl1pPr>
              <a:defRPr sz="301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4762" y="987426"/>
            <a:ext cx="5804922" cy="4873625"/>
          </a:xfrm>
        </p:spPr>
        <p:txBody>
          <a:bodyPr/>
          <a:lstStyle>
            <a:lvl1pPr>
              <a:defRPr sz="3010"/>
            </a:lvl1pPr>
            <a:lvl2pPr>
              <a:defRPr sz="2633"/>
            </a:lvl2pPr>
            <a:lvl3pPr>
              <a:defRPr sz="2257"/>
            </a:lvl3pPr>
            <a:lvl4pPr>
              <a:defRPr sz="1881"/>
            </a:lvl4pPr>
            <a:lvl5pPr>
              <a:defRPr sz="1881"/>
            </a:lvl5pPr>
            <a:lvl6pPr>
              <a:defRPr sz="1881"/>
            </a:lvl6pPr>
            <a:lvl7pPr>
              <a:defRPr sz="1881"/>
            </a:lvl7pPr>
            <a:lvl8pPr>
              <a:defRPr sz="1881"/>
            </a:lvl8pPr>
            <a:lvl9pPr>
              <a:defRPr sz="188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9817" y="2057400"/>
            <a:ext cx="3698249" cy="3811588"/>
          </a:xfrm>
        </p:spPr>
        <p:txBody>
          <a:bodyPr/>
          <a:lstStyle>
            <a:lvl1pPr marL="0" indent="0">
              <a:buNone/>
              <a:defRPr sz="1505"/>
            </a:lvl1pPr>
            <a:lvl2pPr marL="429997" indent="0">
              <a:buNone/>
              <a:defRPr sz="1317"/>
            </a:lvl2pPr>
            <a:lvl3pPr marL="859993" indent="0">
              <a:buNone/>
              <a:defRPr sz="1129"/>
            </a:lvl3pPr>
            <a:lvl4pPr marL="1289990" indent="0">
              <a:buNone/>
              <a:defRPr sz="940"/>
            </a:lvl4pPr>
            <a:lvl5pPr marL="1719986" indent="0">
              <a:buNone/>
              <a:defRPr sz="940"/>
            </a:lvl5pPr>
            <a:lvl6pPr marL="2149983" indent="0">
              <a:buNone/>
              <a:defRPr sz="940"/>
            </a:lvl6pPr>
            <a:lvl7pPr marL="2579980" indent="0">
              <a:buNone/>
              <a:defRPr sz="940"/>
            </a:lvl7pPr>
            <a:lvl8pPr marL="3009976" indent="0">
              <a:buNone/>
              <a:defRPr sz="940"/>
            </a:lvl8pPr>
            <a:lvl9pPr marL="3439973" indent="0">
              <a:buNone/>
              <a:defRPr sz="94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CD499-ABA9-4152-BE4C-9EA52FE70224}" type="datetimeFigureOut">
              <a:rPr lang="es-CO" smtClean="0"/>
              <a:t>28/10/2025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26DD-4AE3-436B-966F-19A41F6DCB4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24631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9817" y="457200"/>
            <a:ext cx="3698249" cy="1600200"/>
          </a:xfrm>
        </p:spPr>
        <p:txBody>
          <a:bodyPr anchor="b"/>
          <a:lstStyle>
            <a:lvl1pPr>
              <a:defRPr sz="301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4762" y="987426"/>
            <a:ext cx="5804922" cy="4873625"/>
          </a:xfrm>
        </p:spPr>
        <p:txBody>
          <a:bodyPr anchor="t"/>
          <a:lstStyle>
            <a:lvl1pPr marL="0" indent="0">
              <a:buNone/>
              <a:defRPr sz="3010"/>
            </a:lvl1pPr>
            <a:lvl2pPr marL="429997" indent="0">
              <a:buNone/>
              <a:defRPr sz="2633"/>
            </a:lvl2pPr>
            <a:lvl3pPr marL="859993" indent="0">
              <a:buNone/>
              <a:defRPr sz="2257"/>
            </a:lvl3pPr>
            <a:lvl4pPr marL="1289990" indent="0">
              <a:buNone/>
              <a:defRPr sz="1881"/>
            </a:lvl4pPr>
            <a:lvl5pPr marL="1719986" indent="0">
              <a:buNone/>
              <a:defRPr sz="1881"/>
            </a:lvl5pPr>
            <a:lvl6pPr marL="2149983" indent="0">
              <a:buNone/>
              <a:defRPr sz="1881"/>
            </a:lvl6pPr>
            <a:lvl7pPr marL="2579980" indent="0">
              <a:buNone/>
              <a:defRPr sz="1881"/>
            </a:lvl7pPr>
            <a:lvl8pPr marL="3009976" indent="0">
              <a:buNone/>
              <a:defRPr sz="1881"/>
            </a:lvl8pPr>
            <a:lvl9pPr marL="3439973" indent="0">
              <a:buNone/>
              <a:defRPr sz="1881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9817" y="2057400"/>
            <a:ext cx="3698249" cy="3811588"/>
          </a:xfrm>
        </p:spPr>
        <p:txBody>
          <a:bodyPr/>
          <a:lstStyle>
            <a:lvl1pPr marL="0" indent="0">
              <a:buNone/>
              <a:defRPr sz="1505"/>
            </a:lvl1pPr>
            <a:lvl2pPr marL="429997" indent="0">
              <a:buNone/>
              <a:defRPr sz="1317"/>
            </a:lvl2pPr>
            <a:lvl3pPr marL="859993" indent="0">
              <a:buNone/>
              <a:defRPr sz="1129"/>
            </a:lvl3pPr>
            <a:lvl4pPr marL="1289990" indent="0">
              <a:buNone/>
              <a:defRPr sz="940"/>
            </a:lvl4pPr>
            <a:lvl5pPr marL="1719986" indent="0">
              <a:buNone/>
              <a:defRPr sz="940"/>
            </a:lvl5pPr>
            <a:lvl6pPr marL="2149983" indent="0">
              <a:buNone/>
              <a:defRPr sz="940"/>
            </a:lvl6pPr>
            <a:lvl7pPr marL="2579980" indent="0">
              <a:buNone/>
              <a:defRPr sz="940"/>
            </a:lvl7pPr>
            <a:lvl8pPr marL="3009976" indent="0">
              <a:buNone/>
              <a:defRPr sz="940"/>
            </a:lvl8pPr>
            <a:lvl9pPr marL="3439973" indent="0">
              <a:buNone/>
              <a:defRPr sz="94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CD499-ABA9-4152-BE4C-9EA52FE70224}" type="datetimeFigureOut">
              <a:rPr lang="es-CO" smtClean="0"/>
              <a:t>28/10/2025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26DD-4AE3-436B-966F-19A41F6DCB4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59419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CD499-ABA9-4152-BE4C-9EA52FE70224}" type="datetimeFigureOut">
              <a:rPr lang="es-CO" smtClean="0"/>
              <a:t>28/10/2025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26DD-4AE3-436B-966F-19A41F6DCB4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94992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5723" y="365125"/>
            <a:ext cx="2472467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88323" y="365125"/>
            <a:ext cx="7274069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CD499-ABA9-4152-BE4C-9EA52FE70224}" type="datetimeFigureOut">
              <a:rPr lang="es-CO" smtClean="0"/>
              <a:t>28/10/2025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26DD-4AE3-436B-966F-19A41F6DCB4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2424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88323" y="365126"/>
            <a:ext cx="988986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8323" y="1825625"/>
            <a:ext cx="988986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8323" y="6356351"/>
            <a:ext cx="25799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2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CCD499-ABA9-4152-BE4C-9EA52FE70224}" type="datetimeFigureOut">
              <a:rPr lang="es-CO" smtClean="0"/>
              <a:t>28/10/2025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98283" y="6356351"/>
            <a:ext cx="3869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2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98225" y="6356351"/>
            <a:ext cx="25799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2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9826DD-4AE3-436B-966F-19A41F6DCB4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47585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859993" rtl="0" eaLnBrk="1" latinLnBrk="0" hangingPunct="1">
        <a:lnSpc>
          <a:spcPct val="90000"/>
        </a:lnSpc>
        <a:spcBef>
          <a:spcPct val="0"/>
        </a:spcBef>
        <a:buNone/>
        <a:defRPr sz="413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4998" indent="-214998" algn="l" defTabSz="859993" rtl="0" eaLnBrk="1" latinLnBrk="0" hangingPunct="1">
        <a:lnSpc>
          <a:spcPct val="90000"/>
        </a:lnSpc>
        <a:spcBef>
          <a:spcPts val="940"/>
        </a:spcBef>
        <a:buFont typeface="Arial" panose="020B0604020202020204" pitchFamily="34" charset="0"/>
        <a:buChar char="•"/>
        <a:defRPr sz="2633" kern="1200">
          <a:solidFill>
            <a:schemeClr val="tx1"/>
          </a:solidFill>
          <a:latin typeface="+mn-lt"/>
          <a:ea typeface="+mn-ea"/>
          <a:cs typeface="+mn-cs"/>
        </a:defRPr>
      </a:lvl1pPr>
      <a:lvl2pPr marL="644995" indent="-214998" algn="l" defTabSz="859993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2257" kern="1200">
          <a:solidFill>
            <a:schemeClr val="tx1"/>
          </a:solidFill>
          <a:latin typeface="+mn-lt"/>
          <a:ea typeface="+mn-ea"/>
          <a:cs typeface="+mn-cs"/>
        </a:defRPr>
      </a:lvl2pPr>
      <a:lvl3pPr marL="1074992" indent="-214998" algn="l" defTabSz="859993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881" kern="1200">
          <a:solidFill>
            <a:schemeClr val="tx1"/>
          </a:solidFill>
          <a:latin typeface="+mn-lt"/>
          <a:ea typeface="+mn-ea"/>
          <a:cs typeface="+mn-cs"/>
        </a:defRPr>
      </a:lvl3pPr>
      <a:lvl4pPr marL="1504988" indent="-214998" algn="l" defTabSz="859993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693" kern="1200">
          <a:solidFill>
            <a:schemeClr val="tx1"/>
          </a:solidFill>
          <a:latin typeface="+mn-lt"/>
          <a:ea typeface="+mn-ea"/>
          <a:cs typeface="+mn-cs"/>
        </a:defRPr>
      </a:lvl4pPr>
      <a:lvl5pPr marL="1934985" indent="-214998" algn="l" defTabSz="859993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693" kern="1200">
          <a:solidFill>
            <a:schemeClr val="tx1"/>
          </a:solidFill>
          <a:latin typeface="+mn-lt"/>
          <a:ea typeface="+mn-ea"/>
          <a:cs typeface="+mn-cs"/>
        </a:defRPr>
      </a:lvl5pPr>
      <a:lvl6pPr marL="2364981" indent="-214998" algn="l" defTabSz="859993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693" kern="1200">
          <a:solidFill>
            <a:schemeClr val="tx1"/>
          </a:solidFill>
          <a:latin typeface="+mn-lt"/>
          <a:ea typeface="+mn-ea"/>
          <a:cs typeface="+mn-cs"/>
        </a:defRPr>
      </a:lvl6pPr>
      <a:lvl7pPr marL="2794978" indent="-214998" algn="l" defTabSz="859993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693" kern="1200">
          <a:solidFill>
            <a:schemeClr val="tx1"/>
          </a:solidFill>
          <a:latin typeface="+mn-lt"/>
          <a:ea typeface="+mn-ea"/>
          <a:cs typeface="+mn-cs"/>
        </a:defRPr>
      </a:lvl7pPr>
      <a:lvl8pPr marL="3224975" indent="-214998" algn="l" defTabSz="859993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693" kern="1200">
          <a:solidFill>
            <a:schemeClr val="tx1"/>
          </a:solidFill>
          <a:latin typeface="+mn-lt"/>
          <a:ea typeface="+mn-ea"/>
          <a:cs typeface="+mn-cs"/>
        </a:defRPr>
      </a:lvl8pPr>
      <a:lvl9pPr marL="3654971" indent="-214998" algn="l" defTabSz="859993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69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9993" rtl="0" eaLnBrk="1" latinLnBrk="0" hangingPunct="1">
        <a:defRPr sz="1693" kern="1200">
          <a:solidFill>
            <a:schemeClr val="tx1"/>
          </a:solidFill>
          <a:latin typeface="+mn-lt"/>
          <a:ea typeface="+mn-ea"/>
          <a:cs typeface="+mn-cs"/>
        </a:defRPr>
      </a:lvl1pPr>
      <a:lvl2pPr marL="429997" algn="l" defTabSz="859993" rtl="0" eaLnBrk="1" latinLnBrk="0" hangingPunct="1">
        <a:defRPr sz="1693" kern="1200">
          <a:solidFill>
            <a:schemeClr val="tx1"/>
          </a:solidFill>
          <a:latin typeface="+mn-lt"/>
          <a:ea typeface="+mn-ea"/>
          <a:cs typeface="+mn-cs"/>
        </a:defRPr>
      </a:lvl2pPr>
      <a:lvl3pPr marL="859993" algn="l" defTabSz="859993" rtl="0" eaLnBrk="1" latinLnBrk="0" hangingPunct="1">
        <a:defRPr sz="1693" kern="1200">
          <a:solidFill>
            <a:schemeClr val="tx1"/>
          </a:solidFill>
          <a:latin typeface="+mn-lt"/>
          <a:ea typeface="+mn-ea"/>
          <a:cs typeface="+mn-cs"/>
        </a:defRPr>
      </a:lvl3pPr>
      <a:lvl4pPr marL="1289990" algn="l" defTabSz="859993" rtl="0" eaLnBrk="1" latinLnBrk="0" hangingPunct="1">
        <a:defRPr sz="1693" kern="1200">
          <a:solidFill>
            <a:schemeClr val="tx1"/>
          </a:solidFill>
          <a:latin typeface="+mn-lt"/>
          <a:ea typeface="+mn-ea"/>
          <a:cs typeface="+mn-cs"/>
        </a:defRPr>
      </a:lvl4pPr>
      <a:lvl5pPr marL="1719986" algn="l" defTabSz="859993" rtl="0" eaLnBrk="1" latinLnBrk="0" hangingPunct="1">
        <a:defRPr sz="1693" kern="1200">
          <a:solidFill>
            <a:schemeClr val="tx1"/>
          </a:solidFill>
          <a:latin typeface="+mn-lt"/>
          <a:ea typeface="+mn-ea"/>
          <a:cs typeface="+mn-cs"/>
        </a:defRPr>
      </a:lvl5pPr>
      <a:lvl6pPr marL="2149983" algn="l" defTabSz="859993" rtl="0" eaLnBrk="1" latinLnBrk="0" hangingPunct="1">
        <a:defRPr sz="1693" kern="1200">
          <a:solidFill>
            <a:schemeClr val="tx1"/>
          </a:solidFill>
          <a:latin typeface="+mn-lt"/>
          <a:ea typeface="+mn-ea"/>
          <a:cs typeface="+mn-cs"/>
        </a:defRPr>
      </a:lvl6pPr>
      <a:lvl7pPr marL="2579980" algn="l" defTabSz="859993" rtl="0" eaLnBrk="1" latinLnBrk="0" hangingPunct="1">
        <a:defRPr sz="1693" kern="1200">
          <a:solidFill>
            <a:schemeClr val="tx1"/>
          </a:solidFill>
          <a:latin typeface="+mn-lt"/>
          <a:ea typeface="+mn-ea"/>
          <a:cs typeface="+mn-cs"/>
        </a:defRPr>
      </a:lvl7pPr>
      <a:lvl8pPr marL="3009976" algn="l" defTabSz="859993" rtl="0" eaLnBrk="1" latinLnBrk="0" hangingPunct="1">
        <a:defRPr sz="1693" kern="1200">
          <a:solidFill>
            <a:schemeClr val="tx1"/>
          </a:solidFill>
          <a:latin typeface="+mn-lt"/>
          <a:ea typeface="+mn-ea"/>
          <a:cs typeface="+mn-cs"/>
        </a:defRPr>
      </a:lvl8pPr>
      <a:lvl9pPr marL="3439973" algn="l" defTabSz="859993" rtl="0" eaLnBrk="1" latinLnBrk="0" hangingPunct="1">
        <a:defRPr sz="169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0.png"/><Relationship Id="rId4" Type="http://schemas.openxmlformats.org/officeDocument/2006/relationships/image" Target="../media/image4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03F3629-79D8-C13B-F03A-5EDD99989F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6"/>
          <a:stretch>
            <a:fillRect/>
          </a:stretch>
        </p:blipFill>
        <p:spPr>
          <a:xfrm>
            <a:off x="1895" y="0"/>
            <a:ext cx="11464618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D35821C-5BBE-7444-181B-43EE22A936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ES" sz="2800" b="1" i="0" dirty="0">
                <a:solidFill>
                  <a:srgbClr val="006400"/>
                </a:solidFill>
                <a:effectLst/>
                <a:latin typeface="Arial" panose="020B0604020202020204" pitchFamily="34" charset="0"/>
              </a:rPr>
              <a:t>Diseño de una aplicación móvil como</a:t>
            </a:r>
            <a:br>
              <a:rPr lang="es-ES" sz="2800" b="1" dirty="0">
                <a:solidFill>
                  <a:srgbClr val="006400"/>
                </a:solidFill>
                <a:latin typeface="Arial" panose="020B0604020202020204" pitchFamily="34" charset="0"/>
              </a:rPr>
            </a:br>
            <a:r>
              <a:rPr lang="es-ES" sz="2800" b="1" dirty="0">
                <a:solidFill>
                  <a:srgbClr val="006400"/>
                </a:solidFill>
                <a:latin typeface="Arial" panose="020B0604020202020204" pitchFamily="34" charset="0"/>
              </a:rPr>
              <a:t>alternativa tecnológica para mejorar la movilidad de los estudiantes de la </a:t>
            </a:r>
            <a:r>
              <a:rPr lang="es-ES" sz="2800" b="1" dirty="0">
                <a:solidFill>
                  <a:srgbClr val="FFD700"/>
                </a:solidFill>
                <a:latin typeface="Arial" panose="020B0604020202020204" pitchFamily="34" charset="0"/>
              </a:rPr>
              <a:t>UTCH</a:t>
            </a:r>
            <a:endParaRPr lang="es-CO" sz="28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DA54685-9274-B0A7-D968-9A2626E23A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s-ES" b="1" i="0" dirty="0">
                <a:solidFill>
                  <a:srgbClr val="2E8B57"/>
                </a:solidFill>
                <a:effectLst/>
                <a:latin typeface="Arial" panose="020B0604020202020204" pitchFamily="34" charset="0"/>
              </a:rPr>
              <a:t>PROGRAMA DE INGENIERÍA DE TELECOMUNICACIONES E INFORMÁTICA</a:t>
            </a:r>
          </a:p>
          <a:p>
            <a:pPr algn="ctr"/>
            <a:r>
              <a:rPr lang="es-ES" b="0" i="1" dirty="0">
                <a:solidFill>
                  <a:srgbClr val="006400"/>
                </a:solidFill>
                <a:effectLst/>
                <a:latin typeface="Arial" panose="020B0604020202020204" pitchFamily="34" charset="0"/>
              </a:rPr>
              <a:t>"Conectando estudiantes, construyendo futuro" - </a:t>
            </a:r>
            <a:r>
              <a:rPr lang="es-ES" b="1" i="1" dirty="0">
                <a:solidFill>
                  <a:srgbClr val="FFD700"/>
                </a:solidFill>
                <a:effectLst/>
                <a:latin typeface="Arial" panose="020B0604020202020204" pitchFamily="34" charset="0"/>
              </a:rPr>
              <a:t>UTCH</a:t>
            </a:r>
            <a:endParaRPr lang="es-ES" b="0" i="1" dirty="0">
              <a:solidFill>
                <a:srgbClr val="006400"/>
              </a:solidFill>
              <a:effectLst/>
              <a:latin typeface="Arial" panose="020B0604020202020204" pitchFamily="34" charset="0"/>
            </a:endParaRP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673893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168CFE7-99E7-4B38-B4E9-13A69F62D2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793738"/>
            <a:ext cx="11466513" cy="765173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55BECC8-F51D-443C-A2B1-3C42C5C1B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sz="4400" b="1" i="0" dirty="0">
                <a:solidFill>
                  <a:srgbClr val="006400"/>
                </a:solidFill>
                <a:effectLst/>
                <a:latin typeface="Arial" panose="020B0604020202020204" pitchFamily="34" charset="0"/>
              </a:rPr>
              <a:t>¿Qué es </a:t>
            </a:r>
            <a:r>
              <a:rPr lang="es-CO" sz="4400" b="1" i="0" dirty="0">
                <a:solidFill>
                  <a:srgbClr val="FFD700"/>
                </a:solidFill>
                <a:effectLst/>
                <a:latin typeface="Arial" panose="020B0604020202020204" pitchFamily="34" charset="0"/>
              </a:rPr>
              <a:t>UTCH</a:t>
            </a:r>
            <a:r>
              <a:rPr lang="es-CO" sz="4400" b="1" i="0" dirty="0">
                <a:solidFill>
                  <a:srgbClr val="006400"/>
                </a:solidFill>
                <a:effectLst/>
                <a:latin typeface="Arial" panose="020B0604020202020204" pitchFamily="34" charset="0"/>
              </a:rPr>
              <a:t> CHOMPI?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7CD844C-FC4F-4931-B173-E5999EC414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88325" y="1521000"/>
            <a:ext cx="6144492" cy="4351338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s-ES" sz="1800" b="0" i="0" dirty="0">
                <a:solidFill>
                  <a:srgbClr val="374151"/>
                </a:solidFill>
                <a:effectLst/>
                <a:latin typeface="Roboto" panose="02000000000000000000" pitchFamily="2" charset="0"/>
              </a:rPr>
              <a:t>UTCH CHOMPI es una aplicación móvil de </a:t>
            </a:r>
            <a:r>
              <a:rPr lang="es-ES" sz="1800" b="0" i="0" dirty="0" err="1">
                <a:solidFill>
                  <a:srgbClr val="374151"/>
                </a:solidFill>
                <a:effectLst/>
                <a:latin typeface="Roboto" panose="02000000000000000000" pitchFamily="2" charset="0"/>
              </a:rPr>
              <a:t>carpooling</a:t>
            </a:r>
            <a:r>
              <a:rPr lang="es-ES" sz="1800" b="0" i="0" dirty="0">
                <a:solidFill>
                  <a:srgbClr val="374151"/>
                </a:solidFill>
                <a:effectLst/>
                <a:latin typeface="Roboto" panose="02000000000000000000" pitchFamily="2" charset="0"/>
              </a:rPr>
              <a:t> diseñada exclusivamente para la comunidad universitaria de la UTCH, que permite compartir vehículos entre estudiantes.</a:t>
            </a:r>
          </a:p>
          <a:p>
            <a:pPr marL="0" indent="0" algn="l">
              <a:buNone/>
            </a:pPr>
            <a:r>
              <a:rPr lang="es-ES" sz="1800" b="0" i="0" dirty="0">
                <a:solidFill>
                  <a:srgbClr val="374151"/>
                </a:solidFill>
                <a:effectLst/>
                <a:latin typeface="Roboto" panose="02000000000000000000" pitchFamily="2" charset="0"/>
              </a:rPr>
              <a:t>La aplicación busca reducir significativamente los costos de transporte, mejorar la movilidad y fortalecer los lazos comunitarios entre los estudiantes.</a:t>
            </a:r>
          </a:p>
          <a:p>
            <a:pPr marL="0" indent="0">
              <a:buNone/>
            </a:pPr>
            <a:endParaRPr lang="es-CO" dirty="0"/>
          </a:p>
        </p:txBody>
      </p:sp>
      <p:pic>
        <p:nvPicPr>
          <p:cNvPr id="22" name="Marcador de contenido 21">
            <a:extLst>
              <a:ext uri="{FF2B5EF4-FFF2-40B4-BE49-F238E27FC236}">
                <a16:creationId xmlns:a16="http://schemas.microsoft.com/office/drawing/2014/main" id="{1FDCA256-6F72-4DB4-ADBC-05C24BFD63F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3"/>
          <a:srcRect l="3703" r="5100"/>
          <a:stretch/>
        </p:blipFill>
        <p:spPr>
          <a:xfrm>
            <a:off x="7783177" y="823484"/>
            <a:ext cx="2354051" cy="500978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E3C2FC4F-1FC9-4454-A60F-605F926F35DD}"/>
              </a:ext>
            </a:extLst>
          </p:cNvPr>
          <p:cNvSpPr/>
          <p:nvPr/>
        </p:nvSpPr>
        <p:spPr>
          <a:xfrm>
            <a:off x="938846" y="3657600"/>
            <a:ext cx="1804514" cy="1410668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ES" dirty="0"/>
          </a:p>
          <a:p>
            <a:pPr algn="ctr"/>
            <a:endParaRPr lang="es-ES" dirty="0"/>
          </a:p>
          <a:p>
            <a:pPr algn="ctr"/>
            <a:endParaRPr lang="es-ES" sz="1600" dirty="0"/>
          </a:p>
          <a:p>
            <a:pPr algn="ctr"/>
            <a:r>
              <a:rPr lang="es-ES" sz="1600" dirty="0"/>
              <a:t>108</a:t>
            </a:r>
          </a:p>
          <a:p>
            <a:pPr algn="ctr"/>
            <a:r>
              <a:rPr lang="es-ES" sz="1600" dirty="0"/>
              <a:t>Estudiantes encuestados</a:t>
            </a:r>
          </a:p>
          <a:p>
            <a:pPr algn="ctr"/>
            <a:r>
              <a:rPr lang="es-ES" dirty="0"/>
              <a:t> </a:t>
            </a:r>
            <a:endParaRPr lang="es-CO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5BDC899-6187-4DA5-93D9-6CE67BF6FA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3791" y="3735468"/>
            <a:ext cx="474624" cy="474624"/>
          </a:xfrm>
          <a:prstGeom prst="rect">
            <a:avLst/>
          </a:prstGeom>
        </p:spPr>
      </p:pic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6A2637CD-B79F-4422-9F86-DA1C6EEBEEBC}"/>
              </a:ext>
            </a:extLst>
          </p:cNvPr>
          <p:cNvSpPr/>
          <p:nvPr/>
        </p:nvSpPr>
        <p:spPr>
          <a:xfrm>
            <a:off x="2963916" y="3657600"/>
            <a:ext cx="1798911" cy="1410668"/>
          </a:xfrm>
          <a:prstGeom prst="round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s-ES" dirty="0"/>
          </a:p>
          <a:p>
            <a:pPr algn="ctr"/>
            <a:endParaRPr lang="es-ES" dirty="0"/>
          </a:p>
          <a:p>
            <a:pPr algn="ctr"/>
            <a:endParaRPr lang="es-ES" sz="1600" dirty="0"/>
          </a:p>
          <a:p>
            <a:pPr algn="ctr"/>
            <a:r>
              <a:rPr lang="es-ES" sz="1600" dirty="0"/>
              <a:t>80.6%</a:t>
            </a:r>
          </a:p>
          <a:p>
            <a:pPr algn="ctr"/>
            <a:r>
              <a:rPr lang="es-ES" sz="1600" dirty="0"/>
              <a:t>Estudiantes encuestados</a:t>
            </a:r>
          </a:p>
          <a:p>
            <a:pPr algn="ctr"/>
            <a:r>
              <a:rPr lang="es-ES" dirty="0"/>
              <a:t> </a:t>
            </a:r>
            <a:endParaRPr lang="es-CO" dirty="0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795E7C12-818F-4625-B441-59AE72823348}"/>
              </a:ext>
            </a:extLst>
          </p:cNvPr>
          <p:cNvSpPr/>
          <p:nvPr/>
        </p:nvSpPr>
        <p:spPr>
          <a:xfrm>
            <a:off x="5009830" y="3657600"/>
            <a:ext cx="1798911" cy="1410668"/>
          </a:xfrm>
          <a:prstGeom prst="round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s-ES" dirty="0"/>
          </a:p>
          <a:p>
            <a:pPr algn="ctr"/>
            <a:endParaRPr lang="es-ES" dirty="0"/>
          </a:p>
          <a:p>
            <a:pPr algn="ctr"/>
            <a:endParaRPr lang="es-ES" sz="1600" dirty="0"/>
          </a:p>
          <a:p>
            <a:pPr algn="ctr"/>
            <a:r>
              <a:rPr lang="es-ES" sz="1600" dirty="0"/>
              <a:t>108k-280k</a:t>
            </a:r>
          </a:p>
          <a:p>
            <a:pPr algn="ctr"/>
            <a:r>
              <a:rPr lang="es-ES" sz="1600" dirty="0"/>
              <a:t>Ahorro mensual</a:t>
            </a:r>
          </a:p>
          <a:p>
            <a:pPr algn="ctr"/>
            <a:r>
              <a:rPr lang="es-ES" dirty="0"/>
              <a:t> </a:t>
            </a:r>
            <a:endParaRPr lang="es-CO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5B94EEAB-CAAB-4B4A-91AA-0540EBD6ED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0407" y="3774268"/>
            <a:ext cx="397025" cy="397025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A5B68DB3-437E-4E48-9F74-83C3BBC1B5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75586" y="3774268"/>
            <a:ext cx="512631" cy="512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81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CD1773B2-69D7-3B97-B592-E594A1A7FB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1466513" cy="6847065"/>
          </a:xfrm>
          <a:prstGeom prst="rect">
            <a:avLst/>
          </a:prstGeom>
        </p:spPr>
      </p:pic>
      <p:sp>
        <p:nvSpPr>
          <p:cNvPr id="16" name="Título 15">
            <a:extLst>
              <a:ext uri="{FF2B5EF4-FFF2-40B4-BE49-F238E27FC236}">
                <a16:creationId xmlns:a16="http://schemas.microsoft.com/office/drawing/2014/main" id="{EDEC9767-1B30-5160-F0A9-F3638EC1F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b="1" i="0" dirty="0">
                <a:solidFill>
                  <a:srgbClr val="006400"/>
                </a:solidFill>
                <a:effectLst/>
                <a:latin typeface="Arial" panose="020B0604020202020204" pitchFamily="34" charset="0"/>
              </a:rPr>
              <a:t>Comparación de Costos de Transporte</a:t>
            </a:r>
            <a:endParaRPr lang="es-CO" dirty="0"/>
          </a:p>
        </p:txBody>
      </p:sp>
      <p:sp>
        <p:nvSpPr>
          <p:cNvPr id="17" name="Marcador de contenido 16">
            <a:extLst>
              <a:ext uri="{FF2B5EF4-FFF2-40B4-BE49-F238E27FC236}">
                <a16:creationId xmlns:a16="http://schemas.microsoft.com/office/drawing/2014/main" id="{E30E339D-29F2-BD27-7BE9-428AD050B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323" y="1354933"/>
            <a:ext cx="5907752" cy="1946274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s-ES" sz="1600" b="1" i="0" dirty="0">
                <a:solidFill>
                  <a:srgbClr val="0B3C5D"/>
                </a:solidFill>
                <a:effectLst/>
                <a:latin typeface="Montserrat" panose="00000500000000000000" pitchFamily="2" charset="0"/>
              </a:rPr>
              <a:t>La realidad del transporte estudiantil</a:t>
            </a:r>
          </a:p>
          <a:p>
            <a:pPr marL="0" indent="0" algn="l">
              <a:buNone/>
            </a:pPr>
            <a:r>
              <a:rPr lang="es-ES" sz="1600" b="0" i="0" dirty="0">
                <a:solidFill>
                  <a:srgbClr val="374151"/>
                </a:solidFill>
                <a:effectLst/>
                <a:latin typeface="Roboto" panose="02000000000000000000" pitchFamily="2" charset="0"/>
              </a:rPr>
              <a:t>El transporte representa un desafío económico significativo para los estudiantes de la UTCH, con costos muy superiores al promedio nacional.</a:t>
            </a:r>
          </a:p>
          <a:p>
            <a:pPr marL="0" indent="0" algn="l">
              <a:buNone/>
            </a:pPr>
            <a:r>
              <a:rPr lang="es-ES" sz="1600" b="0" i="0" dirty="0">
                <a:solidFill>
                  <a:srgbClr val="374151"/>
                </a:solidFill>
                <a:effectLst/>
                <a:latin typeface="Roboto" panose="02000000000000000000" pitchFamily="2" charset="0"/>
              </a:rPr>
              <a:t>Este problema afecta directamente al rendimiento académico y la permanencia universitaria de miles de estudiantes.</a:t>
            </a:r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F105D557-BFB1-4E9A-9C17-1ECF5D7F03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63807769"/>
              </p:ext>
            </p:extLst>
          </p:nvPr>
        </p:nvGraphicFramePr>
        <p:xfrm>
          <a:off x="6829425" y="1571625"/>
          <a:ext cx="4040452" cy="27767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924F3D0D-7445-49ED-B678-BCE6F63F61B0}"/>
              </a:ext>
            </a:extLst>
          </p:cNvPr>
          <p:cNvSpPr/>
          <p:nvPr/>
        </p:nvSpPr>
        <p:spPr>
          <a:xfrm>
            <a:off x="1000125" y="4838700"/>
            <a:ext cx="9496425" cy="1070329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sz="1600" b="1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s-ES" sz="16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Análisis específico UTCH:</a:t>
            </a:r>
            <a:r>
              <a:rPr lang="es-ES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Se espera que UTCH CHOMPI reduzca los gastos de transporte en estudiantes sin vehículos en más del 80% y en estudiantes con vehículos más del 50%. Los costos tradicionales en Quibdó ($350,000) son significativamente más altos que el promedio nacional.</a:t>
            </a:r>
            <a:endParaRPr lang="es-CO" sz="1600" dirty="0"/>
          </a:p>
          <a:p>
            <a:pPr algn="ctr"/>
            <a:endParaRPr lang="es-CO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B6D2AF10-E846-4C5E-B76B-4E7F2FD169C4}"/>
              </a:ext>
            </a:extLst>
          </p:cNvPr>
          <p:cNvSpPr/>
          <p:nvPr/>
        </p:nvSpPr>
        <p:spPr>
          <a:xfrm>
            <a:off x="891221" y="3228182"/>
            <a:ext cx="1804514" cy="1410668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ES" dirty="0"/>
          </a:p>
          <a:p>
            <a:pPr algn="ctr"/>
            <a:endParaRPr lang="es-ES" dirty="0"/>
          </a:p>
          <a:p>
            <a:pPr algn="ctr"/>
            <a:endParaRPr lang="es-ES" sz="1600" dirty="0"/>
          </a:p>
          <a:p>
            <a:pPr algn="ctr"/>
            <a:r>
              <a:rPr lang="es-ES" sz="1600" dirty="0"/>
              <a:t>15,000</a:t>
            </a:r>
          </a:p>
          <a:p>
            <a:pPr algn="ctr"/>
            <a:r>
              <a:rPr lang="es-ES" sz="1600" dirty="0"/>
              <a:t>Estudiantes matriculados</a:t>
            </a:r>
          </a:p>
          <a:p>
            <a:pPr algn="ctr"/>
            <a:r>
              <a:rPr lang="es-ES" dirty="0"/>
              <a:t> </a:t>
            </a:r>
            <a:endParaRPr lang="es-CO" dirty="0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3FE26E17-B5F2-48FC-A2A7-5A6A09620F81}"/>
              </a:ext>
            </a:extLst>
          </p:cNvPr>
          <p:cNvSpPr/>
          <p:nvPr/>
        </p:nvSpPr>
        <p:spPr>
          <a:xfrm>
            <a:off x="2832574" y="3228182"/>
            <a:ext cx="1804514" cy="1410668"/>
          </a:xfrm>
          <a:prstGeom prst="round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s-ES" dirty="0"/>
          </a:p>
          <a:p>
            <a:pPr algn="ctr"/>
            <a:endParaRPr lang="es-ES" dirty="0"/>
          </a:p>
          <a:p>
            <a:pPr algn="ctr"/>
            <a:endParaRPr lang="es-ES" sz="1600" dirty="0"/>
          </a:p>
          <a:p>
            <a:pPr algn="ctr"/>
            <a:r>
              <a:rPr lang="es-ES" sz="1600" dirty="0"/>
              <a:t>180k-350k</a:t>
            </a:r>
          </a:p>
          <a:p>
            <a:pPr algn="ctr"/>
            <a:r>
              <a:rPr lang="es-ES" sz="1600" dirty="0"/>
              <a:t>Gastos mensuales</a:t>
            </a:r>
          </a:p>
          <a:p>
            <a:pPr algn="ctr"/>
            <a:r>
              <a:rPr lang="es-ES" dirty="0"/>
              <a:t> </a:t>
            </a:r>
            <a:endParaRPr lang="es-CO" dirty="0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6C98AD5F-27FA-4DA5-B5E1-9095E8F7AC17}"/>
              </a:ext>
            </a:extLst>
          </p:cNvPr>
          <p:cNvSpPr/>
          <p:nvPr/>
        </p:nvSpPr>
        <p:spPr>
          <a:xfrm>
            <a:off x="4773927" y="3228182"/>
            <a:ext cx="1804514" cy="1410668"/>
          </a:xfrm>
          <a:prstGeom prst="round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ES" dirty="0"/>
          </a:p>
          <a:p>
            <a:pPr algn="ctr"/>
            <a:endParaRPr lang="es-ES" dirty="0"/>
          </a:p>
          <a:p>
            <a:pPr algn="ctr"/>
            <a:endParaRPr lang="es-ES" sz="1600" dirty="0"/>
          </a:p>
          <a:p>
            <a:pPr algn="ctr"/>
            <a:r>
              <a:rPr lang="es-ES" sz="1600" dirty="0">
                <a:solidFill>
                  <a:srgbClr val="FF0000"/>
                </a:solidFill>
              </a:rPr>
              <a:t>+60%</a:t>
            </a:r>
          </a:p>
          <a:p>
            <a:pPr algn="ctr"/>
            <a:r>
              <a:rPr lang="es-ES" sz="1600" dirty="0">
                <a:solidFill>
                  <a:srgbClr val="FF0000"/>
                </a:solidFill>
              </a:rPr>
              <a:t>de estudiantes sin vehículo </a:t>
            </a:r>
          </a:p>
          <a:p>
            <a:pPr algn="ctr"/>
            <a:r>
              <a:rPr lang="es-ES" dirty="0"/>
              <a:t> </a:t>
            </a:r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52F7A11-002C-437E-98CF-22D1220BA1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0626" y="3218614"/>
            <a:ext cx="671115" cy="671115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5EDDB952-D859-4BCE-B991-6773878426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9280" y="3289502"/>
            <a:ext cx="508396" cy="508396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36CAC8F9-AD84-4087-9339-0004856CAA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8623" y="3301207"/>
            <a:ext cx="579558" cy="579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983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n 25">
            <a:extLst>
              <a:ext uri="{FF2B5EF4-FFF2-40B4-BE49-F238E27FC236}">
                <a16:creationId xmlns:a16="http://schemas.microsoft.com/office/drawing/2014/main" id="{17C78ECF-2D31-4D17-8BB3-A4CDA5D3FC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1466513" cy="696277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DB7CFBC-5EE7-4FBD-ACFF-CE8E468AF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829" y="685652"/>
            <a:ext cx="3698249" cy="657225"/>
          </a:xfrm>
        </p:spPr>
        <p:txBody>
          <a:bodyPr/>
          <a:lstStyle/>
          <a:p>
            <a:r>
              <a:rPr lang="es-ES" b="1" dirty="0">
                <a:solidFill>
                  <a:srgbClr val="006400"/>
                </a:solidFill>
                <a:latin typeface="Arial" panose="020B0604020202020204" pitchFamily="34" charset="0"/>
              </a:rPr>
              <a:t>Problema actual </a:t>
            </a:r>
            <a:endParaRPr lang="es-CO" dirty="0"/>
          </a:p>
        </p:txBody>
      </p:sp>
      <p:pic>
        <p:nvPicPr>
          <p:cNvPr id="21" name="Marcador de contenido 20">
            <a:extLst>
              <a:ext uri="{FF2B5EF4-FFF2-40B4-BE49-F238E27FC236}">
                <a16:creationId xmlns:a16="http://schemas.microsoft.com/office/drawing/2014/main" id="{34D2A808-7C46-480B-A72D-7E29E90EB2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4880"/>
          <a:stretch/>
        </p:blipFill>
        <p:spPr>
          <a:xfrm>
            <a:off x="5001128" y="1827827"/>
            <a:ext cx="1832814" cy="391596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069DBC1-B6FF-4075-B132-708A05278C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89817" y="1518344"/>
            <a:ext cx="3981545" cy="660897"/>
          </a:xfrm>
        </p:spPr>
        <p:txBody>
          <a:bodyPr>
            <a:normAutofit lnSpcReduction="10000"/>
          </a:bodyPr>
          <a:lstStyle/>
          <a:p>
            <a:r>
              <a:rPr lang="es-ES" b="0" i="0" dirty="0">
                <a:solidFill>
                  <a:srgbClr val="374151"/>
                </a:solidFill>
                <a:effectLst/>
                <a:latin typeface="Montserrat" panose="00000500000000000000" pitchFamily="2" charset="0"/>
              </a:rPr>
              <a:t>Los estudiantes de la UTCH enfrentan diariamente desafíos significativos de movilidad:</a:t>
            </a:r>
            <a:endParaRPr lang="es-CO" dirty="0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EF0711D5-CEEA-41E3-B8CD-7F0164C471D7}"/>
              </a:ext>
            </a:extLst>
          </p:cNvPr>
          <p:cNvSpPr/>
          <p:nvPr/>
        </p:nvSpPr>
        <p:spPr>
          <a:xfrm>
            <a:off x="829091" y="2340372"/>
            <a:ext cx="3942271" cy="600075"/>
          </a:xfrm>
          <a:prstGeom prst="round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r>
              <a:rPr lang="es-ES" sz="1200" b="1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     Costos de transporte elevados</a:t>
            </a:r>
            <a:r>
              <a:rPr lang="es-ES" sz="12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 para         estudiantes con presupuesto limitado</a:t>
            </a:r>
            <a:endParaRPr lang="es-CO" sz="12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3F42A35-0643-4B00-A88E-6A317D43FC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523" y="2371725"/>
            <a:ext cx="482802" cy="482802"/>
          </a:xfrm>
          <a:prstGeom prst="rect">
            <a:avLst/>
          </a:prstGeom>
        </p:spPr>
      </p:pic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F6FBCC45-9EE9-4A88-9AAB-95B9C0C23683}"/>
              </a:ext>
            </a:extLst>
          </p:cNvPr>
          <p:cNvSpPr/>
          <p:nvPr/>
        </p:nvSpPr>
        <p:spPr>
          <a:xfrm>
            <a:off x="829092" y="3307159"/>
            <a:ext cx="3942270" cy="600075"/>
          </a:xfrm>
          <a:prstGeom prst="round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rgbClr val="000000"/>
                </a:solidFill>
                <a:latin typeface="Montserrat" panose="00000500000000000000" pitchFamily="2" charset="0"/>
              </a:rPr>
              <a:t>  v  </a:t>
            </a:r>
            <a:r>
              <a:rPr lang="es-ES" sz="1200" b="1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Rutas y horarios</a:t>
            </a:r>
            <a:r>
              <a:rPr lang="es-ES" sz="12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 de transporte público poco flexibles</a:t>
            </a:r>
            <a:endParaRPr lang="es-CO" sz="1200" dirty="0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3E697EE6-43B2-4094-8912-F8574594FE70}"/>
              </a:ext>
            </a:extLst>
          </p:cNvPr>
          <p:cNvSpPr/>
          <p:nvPr/>
        </p:nvSpPr>
        <p:spPr>
          <a:xfrm>
            <a:off x="829092" y="4238625"/>
            <a:ext cx="3942270" cy="600075"/>
          </a:xfrm>
          <a:prstGeom prst="round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es-ES" sz="1200" b="1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   Tráfico y congestión</a:t>
            </a:r>
            <a:r>
              <a:rPr lang="es-ES" sz="12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 en accesos principales al campus</a:t>
            </a:r>
            <a:endParaRPr lang="es-CO" sz="1200" dirty="0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D19ACCCE-588D-41D9-A36C-B6774FDFAD65}"/>
              </a:ext>
            </a:extLst>
          </p:cNvPr>
          <p:cNvSpPr/>
          <p:nvPr/>
        </p:nvSpPr>
        <p:spPr>
          <a:xfrm>
            <a:off x="831564" y="5170091"/>
            <a:ext cx="3939798" cy="600075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s-ES" sz="1200" b="1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  Estacionamiento limitado</a:t>
            </a:r>
            <a:r>
              <a:rPr lang="es-ES" sz="12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 en las instalaciones universitarias</a:t>
            </a:r>
            <a:endParaRPr lang="es-CO" sz="12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BE63C5AD-E452-4F00-B2EE-034CDF81CD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829" y="3368079"/>
            <a:ext cx="478234" cy="478234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D0F17A6C-FA1F-4070-A1FF-85280B73FE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350" y="4276725"/>
            <a:ext cx="561975" cy="561975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C8B112FA-8190-4713-8EB3-7BF3A08D00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564" y="5208587"/>
            <a:ext cx="523081" cy="523081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3D181677-1B14-462E-B301-188E1AAC0CD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708" y="1827826"/>
            <a:ext cx="1917751" cy="391596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DB0CF6E8-D0D0-4CD8-915D-D327B935EF2D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3748" t="1388"/>
          <a:stretch/>
        </p:blipFill>
        <p:spPr>
          <a:xfrm>
            <a:off x="9265111" y="1827826"/>
            <a:ext cx="1917750" cy="397435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714778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n 25">
            <a:extLst>
              <a:ext uri="{FF2B5EF4-FFF2-40B4-BE49-F238E27FC236}">
                <a16:creationId xmlns:a16="http://schemas.microsoft.com/office/drawing/2014/main" id="{17C78ECF-2D31-4D17-8BB3-A4CDA5D3FC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139"/>
            <a:ext cx="11466513" cy="696277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DB7CFBC-5EE7-4FBD-ACFF-CE8E468AF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829" y="685652"/>
            <a:ext cx="7004621" cy="657225"/>
          </a:xfrm>
        </p:spPr>
        <p:txBody>
          <a:bodyPr>
            <a:normAutofit/>
          </a:bodyPr>
          <a:lstStyle/>
          <a:p>
            <a:r>
              <a:rPr lang="es-ES" b="1" dirty="0">
                <a:solidFill>
                  <a:srgbClr val="006400"/>
                </a:solidFill>
                <a:latin typeface="Arial" panose="020B0604020202020204" pitchFamily="34" charset="0"/>
              </a:rPr>
              <a:t>Solución propuesta: UTCH CHOMPI</a:t>
            </a:r>
            <a:endParaRPr lang="es-CO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069DBC1-B6FF-4075-B132-708A05278C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89817" y="1518344"/>
            <a:ext cx="3981545" cy="660897"/>
          </a:xfrm>
        </p:spPr>
        <p:txBody>
          <a:bodyPr>
            <a:normAutofit lnSpcReduction="10000"/>
          </a:bodyPr>
          <a:lstStyle/>
          <a:p>
            <a:r>
              <a:rPr lang="es-ES" b="0" i="0" dirty="0">
                <a:solidFill>
                  <a:srgbClr val="374151"/>
                </a:solidFill>
                <a:effectLst/>
                <a:latin typeface="Montserrat" panose="00000500000000000000" pitchFamily="2" charset="0"/>
              </a:rPr>
              <a:t>UTCH CHOMPI es la solución innovadora para los desafíos de movilidad en nuestra universidad</a:t>
            </a:r>
            <a:endParaRPr lang="es-CO" dirty="0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EF0711D5-CEEA-41E3-B8CD-7F0164C471D7}"/>
              </a:ext>
            </a:extLst>
          </p:cNvPr>
          <p:cNvSpPr/>
          <p:nvPr/>
        </p:nvSpPr>
        <p:spPr>
          <a:xfrm>
            <a:off x="839419" y="2169953"/>
            <a:ext cx="3942271" cy="600075"/>
          </a:xfrm>
          <a:prstGeom prst="round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br>
              <a:rPr lang="es-ES" sz="1200" b="1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</a:br>
            <a:r>
              <a:rPr lang="es-ES" sz="1200" b="1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App móvil de </a:t>
            </a:r>
            <a:r>
              <a:rPr lang="es-ES" sz="1200" b="1" i="0" dirty="0" err="1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carpooling</a:t>
            </a:r>
            <a:r>
              <a:rPr lang="es-ES" sz="12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 exclusiva para la comunidad UTCH</a:t>
            </a:r>
            <a:endParaRPr lang="es-CO" sz="1200" dirty="0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F6FBCC45-9EE9-4A88-9AAB-95B9C0C23683}"/>
              </a:ext>
            </a:extLst>
          </p:cNvPr>
          <p:cNvSpPr/>
          <p:nvPr/>
        </p:nvSpPr>
        <p:spPr>
          <a:xfrm>
            <a:off x="839419" y="2943659"/>
            <a:ext cx="3942270" cy="600075"/>
          </a:xfrm>
          <a:prstGeom prst="round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r>
              <a:rPr lang="es-ES" sz="1200" b="1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……Conecta conductores y pasajeros</a:t>
            </a:r>
            <a:r>
              <a:rPr lang="es-ES" sz="12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 con rutas y horarios compatibles</a:t>
            </a:r>
            <a:endParaRPr lang="es-CO" sz="1200" dirty="0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3E697EE6-43B2-4094-8912-F8574594FE70}"/>
              </a:ext>
            </a:extLst>
          </p:cNvPr>
          <p:cNvSpPr/>
          <p:nvPr/>
        </p:nvSpPr>
        <p:spPr>
          <a:xfrm>
            <a:off x="839419" y="3760886"/>
            <a:ext cx="3942270" cy="600075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br>
              <a:rPr lang="es-ES" sz="1200" b="1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</a:br>
            <a:r>
              <a:rPr lang="es-ES" sz="1200" b="1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      Cuentas verificadas</a:t>
            </a:r>
            <a:r>
              <a:rPr lang="es-ES" sz="12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 con correo institucional para mayor seguridad</a:t>
            </a:r>
            <a:endParaRPr lang="es-CO" sz="1200" dirty="0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D19ACCCE-588D-41D9-A36C-B6774FDFAD65}"/>
              </a:ext>
            </a:extLst>
          </p:cNvPr>
          <p:cNvSpPr/>
          <p:nvPr/>
        </p:nvSpPr>
        <p:spPr>
          <a:xfrm>
            <a:off x="810690" y="4528532"/>
            <a:ext cx="3939798" cy="598091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s-CO" sz="1200" b="1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Aportes compartidos</a:t>
            </a:r>
            <a:r>
              <a:rPr lang="es-CO" sz="12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 de gastos entre estudiantes</a:t>
            </a:r>
            <a:endParaRPr lang="es-CO" sz="12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54A7B97-2EE6-4EF5-BB5C-9601BA19F0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2082" y="1812659"/>
            <a:ext cx="1957992" cy="398952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40BCC2A6-B1C3-431C-8926-82C467C249C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250"/>
          <a:stretch/>
        </p:blipFill>
        <p:spPr>
          <a:xfrm>
            <a:off x="7105488" y="1848792"/>
            <a:ext cx="1917750" cy="398952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0EE2EE09-A98D-4CAB-A9C3-6941F27834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8653" y="1774161"/>
            <a:ext cx="1917750" cy="395750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50D98B92-7B6F-43EA-95DF-A38F429F68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091" y="2305586"/>
            <a:ext cx="420092" cy="420092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89F7CB8E-E7B9-4A12-A74C-5172C30FE1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8883" y="2985369"/>
            <a:ext cx="395196" cy="395196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99C5B417-E67F-404B-B763-84F2220FC7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6137" y="3860889"/>
            <a:ext cx="420092" cy="420092"/>
          </a:xfrm>
          <a:prstGeom prst="rect">
            <a:avLst/>
          </a:prstGeom>
        </p:spPr>
      </p:pic>
      <p:sp>
        <p:nvSpPr>
          <p:cNvPr id="30" name="Rectángulo: esquinas redondeadas 29">
            <a:extLst>
              <a:ext uri="{FF2B5EF4-FFF2-40B4-BE49-F238E27FC236}">
                <a16:creationId xmlns:a16="http://schemas.microsoft.com/office/drawing/2014/main" id="{98671436-E659-4815-A55E-2A08E41BE2DE}"/>
              </a:ext>
            </a:extLst>
          </p:cNvPr>
          <p:cNvSpPr/>
          <p:nvPr/>
        </p:nvSpPr>
        <p:spPr>
          <a:xfrm>
            <a:off x="810690" y="5328585"/>
            <a:ext cx="3939798" cy="598091"/>
          </a:xfrm>
          <a:prstGeom prst="round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es-ES" sz="1200" b="1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Enfoque en seguridad y comunidad</a:t>
            </a:r>
            <a:r>
              <a:rPr lang="es-ES" sz="12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 universitaria UTCH</a:t>
            </a:r>
            <a:endParaRPr lang="es-CO" sz="1200" dirty="0"/>
          </a:p>
        </p:txBody>
      </p:sp>
      <p:pic>
        <p:nvPicPr>
          <p:cNvPr id="32" name="Imagen 31">
            <a:extLst>
              <a:ext uri="{FF2B5EF4-FFF2-40B4-BE49-F238E27FC236}">
                <a16:creationId xmlns:a16="http://schemas.microsoft.com/office/drawing/2014/main" id="{7B7DEDAE-65C2-4F95-AA94-FD2BD8FF29E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9419" y="4562923"/>
            <a:ext cx="464040" cy="464040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9B210CB5-D37B-4C7A-9145-899EA336F2A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6120" y="5424275"/>
            <a:ext cx="381271" cy="381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65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B81D884-3936-47B9-9576-F4E2908DB4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466513" cy="696277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0F7238B-5B67-419B-B70E-AE50140D2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323" y="365126"/>
            <a:ext cx="9889867" cy="674687"/>
          </a:xfrm>
        </p:spPr>
        <p:txBody>
          <a:bodyPr>
            <a:noAutofit/>
          </a:bodyPr>
          <a:lstStyle/>
          <a:p>
            <a:r>
              <a:rPr lang="es-ES" sz="3010" b="1" dirty="0">
                <a:solidFill>
                  <a:srgbClr val="006400"/>
                </a:solidFill>
                <a:latin typeface="Arial" panose="020B0604020202020204" pitchFamily="34" charset="0"/>
              </a:rPr>
              <a:t>Casos de éxito </a:t>
            </a:r>
            <a:endParaRPr lang="es-CO" sz="3010" dirty="0"/>
          </a:p>
        </p:txBody>
      </p:sp>
      <p:pic>
        <p:nvPicPr>
          <p:cNvPr id="13" name="Marcador de contenido 12">
            <a:extLst>
              <a:ext uri="{FF2B5EF4-FFF2-40B4-BE49-F238E27FC236}">
                <a16:creationId xmlns:a16="http://schemas.microsoft.com/office/drawing/2014/main" id="{3155D910-39CD-4A59-A356-603E6ABCCDC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73544" y="4019551"/>
            <a:ext cx="730250" cy="730250"/>
          </a:xfrm>
        </p:spPr>
      </p:pic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DBEB2ACF-63D6-433C-B838-82EF01A8A7EB}"/>
              </a:ext>
            </a:extLst>
          </p:cNvPr>
          <p:cNvSpPr/>
          <p:nvPr/>
        </p:nvSpPr>
        <p:spPr>
          <a:xfrm>
            <a:off x="357414" y="1473994"/>
            <a:ext cx="5081361" cy="964406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s-ES" sz="1510" b="0" i="0" dirty="0">
                <a:solidFill>
                  <a:srgbClr val="374151"/>
                </a:solidFill>
                <a:effectLst/>
                <a:latin typeface="Montserrat" panose="00000500000000000000" pitchFamily="2" charset="0"/>
              </a:rPr>
              <a:t>El análisis de experiencias internacionales y nacionales nos permite identificar factores de éxito y lecciones aprendidas para la implementación de UTCH CHOMPI.</a:t>
            </a:r>
            <a:endParaRPr lang="es-CO" sz="1510" dirty="0">
              <a:latin typeface="Montserrat" panose="00000500000000000000" pitchFamily="2" charset="0"/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D0190061-1F6F-49AF-AD8B-8D7DF425CFF5}"/>
              </a:ext>
            </a:extLst>
          </p:cNvPr>
          <p:cNvSpPr/>
          <p:nvPr/>
        </p:nvSpPr>
        <p:spPr>
          <a:xfrm>
            <a:off x="357414" y="3889376"/>
            <a:ext cx="5090091" cy="990600"/>
          </a:xfrm>
          <a:prstGeom prst="round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lvl="2"/>
            <a:r>
              <a:rPr lang="es-ES" sz="1200" b="0" i="0" dirty="0" err="1">
                <a:solidFill>
                  <a:srgbClr val="0B3C5D"/>
                </a:solidFill>
                <a:effectLst/>
                <a:latin typeface="Montserrat" panose="00000500000000000000" pitchFamily="2" charset="0"/>
              </a:rPr>
              <a:t>Caronetas</a:t>
            </a:r>
            <a:r>
              <a:rPr lang="es-ES" sz="1200" b="0" i="0" dirty="0">
                <a:solidFill>
                  <a:srgbClr val="0B3C5D"/>
                </a:solidFill>
                <a:effectLst/>
                <a:latin typeface="Montserrat" panose="00000500000000000000" pitchFamily="2" charset="0"/>
              </a:rPr>
              <a:t> (Brasil)</a:t>
            </a:r>
          </a:p>
          <a:p>
            <a:pPr lvl="2"/>
            <a:r>
              <a:rPr lang="es-ES" sz="12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Solución que facilita viajes compartidos para trayectos largos y cortos con énfasis en la seguridad.</a:t>
            </a:r>
          </a:p>
          <a:p>
            <a:pPr lvl="2"/>
            <a:r>
              <a:rPr lang="es-ES" sz="1200" b="0" i="0" dirty="0">
                <a:solidFill>
                  <a:srgbClr val="328E3D"/>
                </a:solidFill>
                <a:effectLst/>
                <a:latin typeface="Roboto" panose="02000000000000000000" pitchFamily="2" charset="0"/>
              </a:rPr>
              <a:t>Aprendizaje: Sistema de calificaciones y creación de comunidad de confianza.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9983F75E-1589-4A13-8E6D-DC084904B34E}"/>
              </a:ext>
            </a:extLst>
          </p:cNvPr>
          <p:cNvSpPr/>
          <p:nvPr/>
        </p:nvSpPr>
        <p:spPr>
          <a:xfrm>
            <a:off x="357414" y="5059363"/>
            <a:ext cx="5090091" cy="990600"/>
          </a:xfrm>
          <a:prstGeom prst="round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lvl="2"/>
            <a:r>
              <a:rPr lang="es-ES" sz="1200" b="0" i="0" dirty="0">
                <a:solidFill>
                  <a:srgbClr val="0B3C5D"/>
                </a:solidFill>
                <a:effectLst/>
                <a:latin typeface="Montserrat" panose="00000500000000000000" pitchFamily="2" charset="0"/>
              </a:rPr>
              <a:t>Aventones (México)</a:t>
            </a:r>
          </a:p>
          <a:p>
            <a:pPr lvl="2"/>
            <a:r>
              <a:rPr lang="es-ES" sz="12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Pionera en Latinoamérica, enfocada en reducir el tráfico y emisiones en ciudades congestionadas.</a:t>
            </a:r>
          </a:p>
          <a:p>
            <a:pPr lvl="2"/>
            <a:r>
              <a:rPr lang="es-ES" sz="1200" b="0" i="0" dirty="0">
                <a:solidFill>
                  <a:srgbClr val="328E3D"/>
                </a:solidFill>
                <a:effectLst/>
                <a:latin typeface="Roboto" panose="02000000000000000000" pitchFamily="2" charset="0"/>
              </a:rPr>
              <a:t>Aprendizaje: Adaptación a la cultura local y gamificación para aumentar participación.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9F971619-0FB4-4CB3-8A3A-1D8956188F97}"/>
              </a:ext>
            </a:extLst>
          </p:cNvPr>
          <p:cNvSpPr/>
          <p:nvPr/>
        </p:nvSpPr>
        <p:spPr>
          <a:xfrm>
            <a:off x="357413" y="2719389"/>
            <a:ext cx="5090091" cy="990600"/>
          </a:xfrm>
          <a:prstGeom prst="round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lvl="2"/>
            <a:r>
              <a:rPr lang="es-ES" sz="1200" b="0" i="0" dirty="0" err="1">
                <a:solidFill>
                  <a:srgbClr val="0B3C5D"/>
                </a:solidFill>
                <a:effectLst/>
                <a:latin typeface="Montserrat" panose="00000500000000000000" pitchFamily="2" charset="0"/>
              </a:rPr>
              <a:t>Zimride</a:t>
            </a:r>
            <a:r>
              <a:rPr lang="es-ES" sz="1200" b="0" i="0" dirty="0">
                <a:solidFill>
                  <a:srgbClr val="0B3C5D"/>
                </a:solidFill>
                <a:effectLst/>
                <a:latin typeface="Montserrat" panose="00000500000000000000" pitchFamily="2" charset="0"/>
              </a:rPr>
              <a:t> (Estados Unidos)</a:t>
            </a:r>
          </a:p>
          <a:p>
            <a:pPr lvl="2"/>
            <a:r>
              <a:rPr lang="es-ES" sz="12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Plataforma enfocada en universidades que conecta a conductores y pasajeros mediante redes sociales.</a:t>
            </a:r>
          </a:p>
          <a:p>
            <a:pPr lvl="2"/>
            <a:r>
              <a:rPr lang="es-ES" sz="1200" b="0" i="0" dirty="0">
                <a:solidFill>
                  <a:srgbClr val="328E3D"/>
                </a:solidFill>
                <a:effectLst/>
                <a:latin typeface="Roboto" panose="02000000000000000000" pitchFamily="2" charset="0"/>
              </a:rPr>
              <a:t>Aprendizaje: Integración con identidad universitaria y validación de usuarios académicos.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C5A85487-24A3-4E70-9CC0-F75CCA346B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544" y="2809082"/>
            <a:ext cx="811214" cy="811214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AAFFF370-357A-417B-A1E7-6F7BBDBFF7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25" y="5134771"/>
            <a:ext cx="818355" cy="818355"/>
          </a:xfrm>
          <a:prstGeom prst="rect">
            <a:avLst/>
          </a:prstGeom>
        </p:spPr>
      </p:pic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3443519A-D01B-4784-BE5C-D6A8E3FEF1CC}"/>
              </a:ext>
            </a:extLst>
          </p:cNvPr>
          <p:cNvSpPr/>
          <p:nvPr/>
        </p:nvSpPr>
        <p:spPr>
          <a:xfrm>
            <a:off x="5934075" y="1358504"/>
            <a:ext cx="2514600" cy="1749425"/>
          </a:xfrm>
          <a:prstGeom prst="round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l"/>
            <a:r>
              <a:rPr lang="es-ES" sz="1400" b="0" i="0" dirty="0">
                <a:solidFill>
                  <a:srgbClr val="328E3D"/>
                </a:solidFill>
                <a:effectLst/>
                <a:latin typeface="Roboto" panose="02000000000000000000" pitchFamily="2" charset="0"/>
              </a:rPr>
              <a:t>Uniandes </a:t>
            </a:r>
            <a:r>
              <a:rPr lang="es-ES" sz="1400" b="0" i="0" dirty="0" err="1">
                <a:solidFill>
                  <a:srgbClr val="328E3D"/>
                </a:solidFill>
                <a:effectLst/>
                <a:latin typeface="Roboto" panose="02000000000000000000" pitchFamily="2" charset="0"/>
              </a:rPr>
              <a:t>Carpooling</a:t>
            </a:r>
            <a:endParaRPr lang="es-ES" sz="1400" b="0" i="0" dirty="0">
              <a:solidFill>
                <a:srgbClr val="328E3D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es-ES" sz="1400" b="0" i="0" dirty="0">
                <a:solidFill>
                  <a:srgbClr val="4B5563"/>
                </a:solidFill>
                <a:effectLst/>
                <a:latin typeface="Roboto" panose="02000000000000000000" pitchFamily="2" charset="0"/>
              </a:rPr>
              <a:t>Sistema de viajes compartidos para la comunidad de la Universidad de los Andes con verificación institucional.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36E987F9-3AB0-446C-A3E6-93A1CA350D06}"/>
              </a:ext>
            </a:extLst>
          </p:cNvPr>
          <p:cNvSpPr/>
          <p:nvPr/>
        </p:nvSpPr>
        <p:spPr>
          <a:xfrm>
            <a:off x="5942408" y="3214689"/>
            <a:ext cx="2514600" cy="1421607"/>
          </a:xfrm>
          <a:prstGeom prst="round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l"/>
            <a:r>
              <a:rPr lang="es-ES" sz="1400" b="0" i="0" dirty="0">
                <a:solidFill>
                  <a:srgbClr val="328E3D"/>
                </a:solidFill>
                <a:effectLst/>
                <a:latin typeface="Roboto" panose="02000000000000000000" pitchFamily="2" charset="0"/>
              </a:rPr>
              <a:t>Poli </a:t>
            </a:r>
            <a:r>
              <a:rPr lang="es-ES" sz="1400" b="0" i="0" dirty="0" err="1">
                <a:solidFill>
                  <a:srgbClr val="328E3D"/>
                </a:solidFill>
                <a:effectLst/>
                <a:latin typeface="Roboto" panose="02000000000000000000" pitchFamily="2" charset="0"/>
              </a:rPr>
              <a:t>Carpooling</a:t>
            </a:r>
            <a:r>
              <a:rPr lang="es-ES" sz="1400" b="0" i="0" dirty="0">
                <a:solidFill>
                  <a:srgbClr val="328E3D"/>
                </a:solidFill>
                <a:effectLst/>
                <a:latin typeface="Roboto" panose="02000000000000000000" pitchFamily="2" charset="0"/>
              </a:rPr>
              <a:t> JIC</a:t>
            </a:r>
          </a:p>
          <a:p>
            <a:pPr algn="l"/>
            <a:r>
              <a:rPr lang="es-ES" sz="1400" b="0" i="0" dirty="0">
                <a:solidFill>
                  <a:srgbClr val="4B5563"/>
                </a:solidFill>
                <a:effectLst/>
                <a:latin typeface="Roboto" panose="02000000000000000000" pitchFamily="2" charset="0"/>
              </a:rPr>
              <a:t>Iniciativa del Politécnico Colombiano JIC enfocada en reducir el impacto ambiental y costos de transporte.</a:t>
            </a:r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8D846FE6-BDE0-4445-ABF6-241C4F15AF9F}"/>
              </a:ext>
            </a:extLst>
          </p:cNvPr>
          <p:cNvSpPr/>
          <p:nvPr/>
        </p:nvSpPr>
        <p:spPr>
          <a:xfrm>
            <a:off x="5934075" y="4749801"/>
            <a:ext cx="5280819" cy="1300162"/>
          </a:xfrm>
          <a:prstGeom prst="round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l"/>
            <a:r>
              <a:rPr lang="es-ES" sz="1400" b="0" i="0" dirty="0">
                <a:solidFill>
                  <a:srgbClr val="0B3C5D"/>
                </a:solidFill>
                <a:effectLst/>
                <a:latin typeface="Roboto" panose="02000000000000000000" pitchFamily="2" charset="0"/>
              </a:rPr>
              <a:t>Factores clave de éxito identificados: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sz="1400" b="0" i="0" dirty="0">
                <a:solidFill>
                  <a:srgbClr val="374151"/>
                </a:solidFill>
                <a:effectLst/>
                <a:latin typeface="Roboto" panose="02000000000000000000" pitchFamily="2" charset="0"/>
              </a:rPr>
              <a:t>Verificación de identidad institucional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sz="1400" b="0" i="0" dirty="0">
                <a:solidFill>
                  <a:srgbClr val="374151"/>
                </a:solidFill>
                <a:effectLst/>
                <a:latin typeface="Roboto" panose="02000000000000000000" pitchFamily="2" charset="0"/>
              </a:rPr>
              <a:t>Sistemas de calificación y confianza entre usuarios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sz="1400" b="0" i="0" dirty="0">
                <a:solidFill>
                  <a:srgbClr val="374151"/>
                </a:solidFill>
                <a:effectLst/>
                <a:latin typeface="Roboto" panose="02000000000000000000" pitchFamily="2" charset="0"/>
              </a:rPr>
              <a:t>Interfaz sencilla y accesible para todos los usuarios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sz="1400" b="0" i="0" dirty="0">
                <a:solidFill>
                  <a:srgbClr val="374151"/>
                </a:solidFill>
                <a:effectLst/>
                <a:latin typeface="Roboto" panose="02000000000000000000" pitchFamily="2" charset="0"/>
              </a:rPr>
              <a:t>Incentivos para conductores que comparten sus vehículos</a:t>
            </a:r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53C6D9EF-A741-41A8-800D-91C8B509F3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2416" y="1157884"/>
            <a:ext cx="3371652" cy="3371652"/>
          </a:xfrm>
          <a:prstGeom prst="rect">
            <a:avLst/>
          </a:prstGeom>
        </p:spPr>
      </p:pic>
      <p:sp>
        <p:nvSpPr>
          <p:cNvPr id="26" name="CuadroTexto 25">
            <a:extLst>
              <a:ext uri="{FF2B5EF4-FFF2-40B4-BE49-F238E27FC236}">
                <a16:creationId xmlns:a16="http://schemas.microsoft.com/office/drawing/2014/main" id="{544004DC-64B9-4340-9F3B-52C78C39C677}"/>
              </a:ext>
            </a:extLst>
          </p:cNvPr>
          <p:cNvSpPr txBox="1"/>
          <p:nvPr/>
        </p:nvSpPr>
        <p:spPr>
          <a:xfrm>
            <a:off x="5867841" y="901462"/>
            <a:ext cx="4629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CO" b="0" i="0" dirty="0">
                <a:solidFill>
                  <a:srgbClr val="0B3C5D"/>
                </a:solidFill>
                <a:effectLst/>
                <a:latin typeface="Montserrat" panose="00000500000000000000" pitchFamily="2" charset="0"/>
              </a:rPr>
              <a:t>Experiencias en Colombia</a:t>
            </a:r>
          </a:p>
        </p:txBody>
      </p:sp>
    </p:spTree>
    <p:extLst>
      <p:ext uri="{BB962C8B-B14F-4D97-AF65-F5344CB8AC3E}">
        <p14:creationId xmlns:p14="http://schemas.microsoft.com/office/powerpoint/2010/main" val="2772021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B81D884-3936-47B9-9576-F4E2908DB4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13833"/>
            <a:ext cx="11466513" cy="696277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0F7238B-5B67-419B-B70E-AE50140D2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413" y="457358"/>
            <a:ext cx="9889867" cy="674687"/>
          </a:xfrm>
        </p:spPr>
        <p:txBody>
          <a:bodyPr>
            <a:noAutofit/>
          </a:bodyPr>
          <a:lstStyle/>
          <a:p>
            <a:r>
              <a:rPr lang="es-ES" sz="3010" b="1" i="0" dirty="0">
                <a:solidFill>
                  <a:srgbClr val="006400"/>
                </a:solidFill>
                <a:effectLst/>
                <a:latin typeface="Arial" panose="020B0604020202020204" pitchFamily="34" charset="0"/>
              </a:rPr>
              <a:t>Innovación </a:t>
            </a:r>
            <a:r>
              <a:rPr lang="es-ES" sz="3010" b="1" dirty="0">
                <a:solidFill>
                  <a:srgbClr val="006400"/>
                </a:solidFill>
                <a:latin typeface="Arial" panose="020B0604020202020204" pitchFamily="34" charset="0"/>
              </a:rPr>
              <a:t>Re</a:t>
            </a:r>
            <a:r>
              <a:rPr lang="es-ES" sz="3010" b="1" i="0" dirty="0">
                <a:solidFill>
                  <a:srgbClr val="006400"/>
                </a:solidFill>
                <a:effectLst/>
                <a:latin typeface="Arial" panose="020B0604020202020204" pitchFamily="34" charset="0"/>
              </a:rPr>
              <a:t>gional</a:t>
            </a:r>
            <a:br>
              <a:rPr lang="es-CO" sz="1200" b="1" i="0" dirty="0">
                <a:solidFill>
                  <a:srgbClr val="FFFFFF"/>
                </a:solidFill>
                <a:effectLst/>
                <a:latin typeface="Montserrat" panose="00000500000000000000" pitchFamily="2" charset="0"/>
              </a:rPr>
            </a:br>
            <a:r>
              <a:rPr lang="es-ES" sz="3010" b="1" dirty="0">
                <a:solidFill>
                  <a:srgbClr val="006400"/>
                </a:solidFill>
                <a:latin typeface="Arial" panose="020B0604020202020204" pitchFamily="34" charset="0"/>
              </a:rPr>
              <a:t> </a:t>
            </a:r>
            <a:endParaRPr lang="es-CO" sz="3010" dirty="0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DBEB2ACF-63D6-433C-B838-82EF01A8A7EB}"/>
              </a:ext>
            </a:extLst>
          </p:cNvPr>
          <p:cNvSpPr/>
          <p:nvPr/>
        </p:nvSpPr>
        <p:spPr>
          <a:xfrm>
            <a:off x="357414" y="901461"/>
            <a:ext cx="5081361" cy="2206468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l"/>
            <a:r>
              <a:rPr lang="es-ES" sz="1600" b="0" i="0" dirty="0">
                <a:solidFill>
                  <a:srgbClr val="374151"/>
                </a:solidFill>
                <a:effectLst/>
                <a:latin typeface="Roboto" panose="02000000000000000000" pitchFamily="2" charset="0"/>
              </a:rPr>
              <a:t>La Universidad Tecnológica del Chocó se posiciona como la primera institución en implementar una solución de </a:t>
            </a:r>
            <a:r>
              <a:rPr lang="es-ES" sz="1600" b="0" i="0" dirty="0" err="1">
                <a:solidFill>
                  <a:srgbClr val="374151"/>
                </a:solidFill>
                <a:effectLst/>
                <a:latin typeface="Roboto" panose="02000000000000000000" pitchFamily="2" charset="0"/>
              </a:rPr>
              <a:t>carpooling</a:t>
            </a:r>
            <a:r>
              <a:rPr lang="es-ES" sz="1600" b="0" i="0" dirty="0">
                <a:solidFill>
                  <a:srgbClr val="374151"/>
                </a:solidFill>
                <a:effectLst/>
                <a:latin typeface="Roboto" panose="02000000000000000000" pitchFamily="2" charset="0"/>
              </a:rPr>
              <a:t> universitario documentada en la región del Pacífico colombiano.</a:t>
            </a:r>
          </a:p>
          <a:p>
            <a:pPr algn="l"/>
            <a:r>
              <a:rPr lang="es-ES" sz="1600" b="0" i="0" dirty="0">
                <a:solidFill>
                  <a:srgbClr val="374151"/>
                </a:solidFill>
                <a:effectLst/>
                <a:latin typeface="Roboto" panose="02000000000000000000" pitchFamily="2" charset="0"/>
              </a:rPr>
              <a:t>Esta iniciativa abre el camino para el desarrollo de la movilidad colaborativa en una zona tradicionalmente desatendida en términos de innovación tecnológica aplicada al transporte.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D0190061-1F6F-49AF-AD8B-8D7DF425CFF5}"/>
              </a:ext>
            </a:extLst>
          </p:cNvPr>
          <p:cNvSpPr/>
          <p:nvPr/>
        </p:nvSpPr>
        <p:spPr>
          <a:xfrm>
            <a:off x="348683" y="4356179"/>
            <a:ext cx="5090091" cy="560233"/>
          </a:xfrm>
          <a:prstGeom prst="round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l"/>
            <a:r>
              <a:rPr lang="es-ES" sz="1200" b="1" i="0" dirty="0">
                <a:solidFill>
                  <a:srgbClr val="328E3D"/>
                </a:solidFill>
                <a:effectLst/>
                <a:latin typeface="Roboto" panose="02000000000000000000" pitchFamily="2" charset="0"/>
              </a:rPr>
              <a:t>Enfoque comunitario</a:t>
            </a:r>
          </a:p>
          <a:p>
            <a:pPr algn="l"/>
            <a:r>
              <a:rPr lang="es-ES" sz="1200" b="0" i="0" dirty="0">
                <a:solidFill>
                  <a:srgbClr val="4B5563"/>
                </a:solidFill>
                <a:effectLst/>
                <a:latin typeface="Roboto" panose="02000000000000000000" pitchFamily="2" charset="0"/>
              </a:rPr>
              <a:t>Adaptada a las necesidades específicas de la UTCH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9983F75E-1589-4A13-8E6D-DC084904B34E}"/>
              </a:ext>
            </a:extLst>
          </p:cNvPr>
          <p:cNvSpPr/>
          <p:nvPr/>
        </p:nvSpPr>
        <p:spPr>
          <a:xfrm>
            <a:off x="357413" y="5068568"/>
            <a:ext cx="5090091" cy="560233"/>
          </a:xfrm>
          <a:prstGeom prst="round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l"/>
            <a:r>
              <a:rPr lang="es-ES" sz="1200" b="1" i="0" dirty="0">
                <a:solidFill>
                  <a:srgbClr val="0B3C5D"/>
                </a:solidFill>
                <a:effectLst/>
                <a:latin typeface="Roboto" panose="02000000000000000000" pitchFamily="2" charset="0"/>
              </a:rPr>
              <a:t>Impulso regional</a:t>
            </a:r>
          </a:p>
          <a:p>
            <a:pPr algn="l"/>
            <a:r>
              <a:rPr lang="es-ES" sz="1200" b="0" i="0" dirty="0">
                <a:solidFill>
                  <a:srgbClr val="4B5563"/>
                </a:solidFill>
                <a:effectLst/>
                <a:latin typeface="Roboto" panose="02000000000000000000" pitchFamily="2" charset="0"/>
              </a:rPr>
              <a:t>Modelo para otras instituciones educativas del Pacífico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9F971619-0FB4-4CB3-8A3A-1D8956188F97}"/>
              </a:ext>
            </a:extLst>
          </p:cNvPr>
          <p:cNvSpPr/>
          <p:nvPr/>
        </p:nvSpPr>
        <p:spPr>
          <a:xfrm>
            <a:off x="348683" y="3750072"/>
            <a:ext cx="5090091" cy="433872"/>
          </a:xfrm>
          <a:prstGeom prst="round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l"/>
            <a:r>
              <a:rPr lang="es-ES" sz="1200" b="1" i="0" dirty="0">
                <a:solidFill>
                  <a:srgbClr val="0B3C5D"/>
                </a:solidFill>
                <a:effectLst/>
                <a:latin typeface="Roboto" panose="02000000000000000000" pitchFamily="2" charset="0"/>
              </a:rPr>
              <a:t>Primera en la región</a:t>
            </a:r>
          </a:p>
          <a:p>
            <a:pPr algn="l"/>
            <a:r>
              <a:rPr lang="es-ES" sz="1200" b="0" i="0" dirty="0">
                <a:solidFill>
                  <a:srgbClr val="4B5563"/>
                </a:solidFill>
                <a:effectLst/>
                <a:latin typeface="Roboto" panose="02000000000000000000" pitchFamily="2" charset="0"/>
              </a:rPr>
              <a:t>Solución sin precedentes en el Pacífico colombiano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4E6581F0-97BB-4106-883F-6CF06581F5F9}"/>
              </a:ext>
            </a:extLst>
          </p:cNvPr>
          <p:cNvSpPr txBox="1"/>
          <p:nvPr/>
        </p:nvSpPr>
        <p:spPr>
          <a:xfrm>
            <a:off x="189088" y="3244334"/>
            <a:ext cx="46291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CO" b="0" i="0" dirty="0">
                <a:solidFill>
                  <a:srgbClr val="328E3D"/>
                </a:solidFill>
                <a:effectLst/>
                <a:latin typeface="Montserrat" panose="00000500000000000000" pitchFamily="2" charset="0"/>
              </a:rPr>
              <a:t>Aspectos pioneros del proyecto:</a:t>
            </a:r>
          </a:p>
          <a:p>
            <a:br>
              <a:rPr lang="es-CO" dirty="0"/>
            </a:br>
            <a:endParaRPr lang="es-CO" b="0" i="0" dirty="0">
              <a:solidFill>
                <a:srgbClr val="0B3C5D"/>
              </a:solidFill>
              <a:effectLst/>
              <a:latin typeface="Montserrat" panose="00000500000000000000" pitchFamily="2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A162BD60-D4BD-46F0-81A1-B26B6841F4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0509" y="590551"/>
            <a:ext cx="5151725" cy="503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463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57C5AE3E-46CA-4871-99D0-0C86147685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1466513" cy="6858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7E666521-73A8-4C9C-9F78-57E2B05B837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72"/>
          <a:stretch/>
        </p:blipFill>
        <p:spPr>
          <a:xfrm>
            <a:off x="345989" y="654906"/>
            <a:ext cx="2395070" cy="497977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57B9E7AC-C22B-497B-A603-620E5325D4A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870"/>
          <a:stretch/>
        </p:blipFill>
        <p:spPr>
          <a:xfrm>
            <a:off x="3076615" y="654906"/>
            <a:ext cx="2384989" cy="497977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51A80B34-484F-47B3-A846-8C3E7682A8B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049"/>
          <a:stretch/>
        </p:blipFill>
        <p:spPr>
          <a:xfrm>
            <a:off x="5797160" y="654905"/>
            <a:ext cx="2363961" cy="497977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EBDF2E35-FF9D-4889-A64F-898707CAA83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261"/>
          <a:stretch/>
        </p:blipFill>
        <p:spPr>
          <a:xfrm>
            <a:off x="8496677" y="654905"/>
            <a:ext cx="2363962" cy="498257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289184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57C5AE3E-46CA-4871-99D0-0C86147685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1466513" cy="68580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B1CD268-9EDC-4E23-B011-E5B0AB814FF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28"/>
          <a:stretch/>
        </p:blipFill>
        <p:spPr>
          <a:xfrm>
            <a:off x="360900" y="652103"/>
            <a:ext cx="2401104" cy="498257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C3B1D56-9ABA-494A-B268-99A25664716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222"/>
          <a:stretch/>
        </p:blipFill>
        <p:spPr>
          <a:xfrm>
            <a:off x="3080572" y="652103"/>
            <a:ext cx="2335533" cy="497977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3D529124-8F53-4A8D-B16A-2F7F50E6CD2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659"/>
          <a:stretch/>
        </p:blipFill>
        <p:spPr>
          <a:xfrm>
            <a:off x="5733256" y="649301"/>
            <a:ext cx="2369903" cy="498257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30DD2BD7-A84D-4AEA-A81E-FE150713397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3014"/>
          <a:stretch/>
        </p:blipFill>
        <p:spPr>
          <a:xfrm>
            <a:off x="8387357" y="649301"/>
            <a:ext cx="2370229" cy="497977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3393776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57C5AE3E-46CA-4871-99D0-0C86147685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466513" cy="685800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FF6D8C60-E640-452D-9935-37E00178FB4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45"/>
          <a:stretch/>
        </p:blipFill>
        <p:spPr>
          <a:xfrm>
            <a:off x="470599" y="646500"/>
            <a:ext cx="2314942" cy="498257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A96A0F52-1C2F-41D2-8DC5-679FEB866E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9156" y="646499"/>
            <a:ext cx="2382857" cy="497977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4690F926-2F4C-4F74-8059-410B8DEC1F0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946"/>
          <a:stretch/>
        </p:blipFill>
        <p:spPr>
          <a:xfrm>
            <a:off x="5710885" y="646499"/>
            <a:ext cx="2382857" cy="498639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21FB8ED9-C8FD-4D75-A879-5E3C66BAD86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888"/>
          <a:stretch/>
        </p:blipFill>
        <p:spPr>
          <a:xfrm>
            <a:off x="8315729" y="646499"/>
            <a:ext cx="2381386" cy="498639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0942452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57C5AE3E-46CA-4871-99D0-0C86147685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466513" cy="6858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EFAD145-81A8-425F-8FBA-70EE3F9A135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86"/>
          <a:stretch/>
        </p:blipFill>
        <p:spPr>
          <a:xfrm>
            <a:off x="292231" y="646500"/>
            <a:ext cx="2393347" cy="497977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0767F817-6D3A-410B-AA71-CD5A6777B2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4823" y="653118"/>
            <a:ext cx="2426634" cy="497977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1" name="Marcador de contenido 20">
            <a:extLst>
              <a:ext uri="{FF2B5EF4-FFF2-40B4-BE49-F238E27FC236}">
                <a16:creationId xmlns:a16="http://schemas.microsoft.com/office/drawing/2014/main" id="{31EC48EC-9537-4DF8-9327-A31D7B35DD7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880"/>
          <a:stretch/>
        </p:blipFill>
        <p:spPr>
          <a:xfrm>
            <a:off x="5669850" y="741241"/>
            <a:ext cx="2286373" cy="488503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6EC2CC10-6ACA-4123-8735-EBB7EDF675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6280" y="671191"/>
            <a:ext cx="2426634" cy="495508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18692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433" y="0"/>
            <a:ext cx="11463646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Imagen 1" descr="Interfaz de usuario gráfica, Aplicación, Chat o mensaje de texto&#10;&#10;El contenido generado por IA puede ser incorrecto.">
            <a:extLst>
              <a:ext uri="{FF2B5EF4-FFF2-40B4-BE49-F238E27FC236}">
                <a16:creationId xmlns:a16="http://schemas.microsoft.com/office/drawing/2014/main" id="{665177D3-6B1D-4E63-BBC3-950DF860C3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" r="1" b="1"/>
          <a:stretch>
            <a:fillRect/>
          </a:stretch>
        </p:blipFill>
        <p:spPr>
          <a:xfrm>
            <a:off x="21" y="1282"/>
            <a:ext cx="11466492" cy="6856718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10F53C6C-7809-4782-AABC-D79E5C153D1B}"/>
              </a:ext>
            </a:extLst>
          </p:cNvPr>
          <p:cNvSpPr/>
          <p:nvPr/>
        </p:nvSpPr>
        <p:spPr>
          <a:xfrm>
            <a:off x="2216716" y="3018738"/>
            <a:ext cx="703308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Gracias por su atención </a:t>
            </a:r>
            <a:endParaRPr lang="es-CO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1DBDAB3B-9113-461C-89F0-AE2E72E6E0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0231" y="681335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19599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422</TotalTime>
  <Words>624</Words>
  <Application>Microsoft Office PowerPoint</Application>
  <PresentationFormat>Personalizado</PresentationFormat>
  <Paragraphs>95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Montserrat</vt:lpstr>
      <vt:lpstr>Roboto</vt:lpstr>
      <vt:lpstr>Tema de Office</vt:lpstr>
      <vt:lpstr>Diseño de una aplicación móvil como alternativa tecnológica para mejorar la movilidad de los estudiantes de la UTCH</vt:lpstr>
      <vt:lpstr>¿Qué es UTCH CHOMPI?</vt:lpstr>
      <vt:lpstr>Comparación de Costos de Transporte</vt:lpstr>
      <vt:lpstr>Problema actual </vt:lpstr>
      <vt:lpstr>Solución propuesta: UTCH CHOMPI</vt:lpstr>
      <vt:lpstr>Casos de éxito </vt:lpstr>
      <vt:lpstr>Innovación Regional 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Diseño de una aplicación web y móvil como alternativa tecnológica para mejorar la movilidad de los estudiantes de la UTCH</dc:title>
  <dc:creator>carlos mario velasquez pineda</dc:creator>
  <cp:lastModifiedBy>Jose Imanol  Chaverra Bejarano</cp:lastModifiedBy>
  <cp:revision>27</cp:revision>
  <dcterms:created xsi:type="dcterms:W3CDTF">2025-10-24T18:45:52Z</dcterms:created>
  <dcterms:modified xsi:type="dcterms:W3CDTF">2025-10-29T04:48:36Z</dcterms:modified>
</cp:coreProperties>
</file>