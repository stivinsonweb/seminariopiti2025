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58" r:id="rId8"/>
    <p:sldId id="264" r:id="rId9"/>
  </p:sldIdLst>
  <p:sldSz cx="114665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0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3314" y="1122363"/>
            <a:ext cx="8599885" cy="2387600"/>
          </a:xfrm>
        </p:spPr>
        <p:txBody>
          <a:bodyPr anchor="b"/>
          <a:lstStyle>
            <a:lvl1pPr algn="ctr">
              <a:defRPr sz="564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3314" y="3602038"/>
            <a:ext cx="8599885" cy="1655762"/>
          </a:xfrm>
        </p:spPr>
        <p:txBody>
          <a:bodyPr/>
          <a:lstStyle>
            <a:lvl1pPr marL="0" indent="0" algn="ctr">
              <a:buNone/>
              <a:defRPr sz="2257"/>
            </a:lvl1pPr>
            <a:lvl2pPr marL="429997" indent="0" algn="ctr">
              <a:buNone/>
              <a:defRPr sz="1881"/>
            </a:lvl2pPr>
            <a:lvl3pPr marL="859993" indent="0" algn="ctr">
              <a:buNone/>
              <a:defRPr sz="1693"/>
            </a:lvl3pPr>
            <a:lvl4pPr marL="1289990" indent="0" algn="ctr">
              <a:buNone/>
              <a:defRPr sz="1505"/>
            </a:lvl4pPr>
            <a:lvl5pPr marL="1719986" indent="0" algn="ctr">
              <a:buNone/>
              <a:defRPr sz="1505"/>
            </a:lvl5pPr>
            <a:lvl6pPr marL="2149983" indent="0" algn="ctr">
              <a:buNone/>
              <a:defRPr sz="1505"/>
            </a:lvl6pPr>
            <a:lvl7pPr marL="2579980" indent="0" algn="ctr">
              <a:buNone/>
              <a:defRPr sz="1505"/>
            </a:lvl7pPr>
            <a:lvl8pPr marL="3009976" indent="0" algn="ctr">
              <a:buNone/>
              <a:defRPr sz="1505"/>
            </a:lvl8pPr>
            <a:lvl9pPr marL="3439973" indent="0" algn="ctr">
              <a:buNone/>
              <a:defRPr sz="150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432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190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351" y="1709739"/>
            <a:ext cx="9889867" cy="2852737"/>
          </a:xfrm>
        </p:spPr>
        <p:txBody>
          <a:bodyPr anchor="b"/>
          <a:lstStyle>
            <a:lvl1pPr>
              <a:defRPr sz="564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351" y="4589464"/>
            <a:ext cx="9889867" cy="1500187"/>
          </a:xfrm>
        </p:spPr>
        <p:txBody>
          <a:bodyPr/>
          <a:lstStyle>
            <a:lvl1pPr marL="0" indent="0">
              <a:buNone/>
              <a:defRPr sz="2257">
                <a:solidFill>
                  <a:schemeClr val="tx1">
                    <a:tint val="75000"/>
                  </a:schemeClr>
                </a:solidFill>
              </a:defRPr>
            </a:lvl1pPr>
            <a:lvl2pPr marL="429997" indent="0">
              <a:buNone/>
              <a:defRPr sz="1881">
                <a:solidFill>
                  <a:schemeClr val="tx1">
                    <a:tint val="75000"/>
                  </a:schemeClr>
                </a:solidFill>
              </a:defRPr>
            </a:lvl2pPr>
            <a:lvl3pPr marL="85999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3pPr>
            <a:lvl4pPr marL="1289990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4pPr>
            <a:lvl5pPr marL="1719986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5pPr>
            <a:lvl6pPr marL="2149983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6pPr>
            <a:lvl7pPr marL="2579980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7pPr>
            <a:lvl8pPr marL="3009976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8pPr>
            <a:lvl9pPr marL="3439973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4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8323" y="1825625"/>
            <a:ext cx="4873268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4922" y="1825625"/>
            <a:ext cx="4873268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045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17" y="365126"/>
            <a:ext cx="9889867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9817" y="1681163"/>
            <a:ext cx="4850872" cy="823912"/>
          </a:xfrm>
        </p:spPr>
        <p:txBody>
          <a:bodyPr anchor="b"/>
          <a:lstStyle>
            <a:lvl1pPr marL="0" indent="0">
              <a:buNone/>
              <a:defRPr sz="2257" b="1"/>
            </a:lvl1pPr>
            <a:lvl2pPr marL="429997" indent="0">
              <a:buNone/>
              <a:defRPr sz="1881" b="1"/>
            </a:lvl2pPr>
            <a:lvl3pPr marL="859993" indent="0">
              <a:buNone/>
              <a:defRPr sz="1693" b="1"/>
            </a:lvl3pPr>
            <a:lvl4pPr marL="1289990" indent="0">
              <a:buNone/>
              <a:defRPr sz="1505" b="1"/>
            </a:lvl4pPr>
            <a:lvl5pPr marL="1719986" indent="0">
              <a:buNone/>
              <a:defRPr sz="1505" b="1"/>
            </a:lvl5pPr>
            <a:lvl6pPr marL="2149983" indent="0">
              <a:buNone/>
              <a:defRPr sz="1505" b="1"/>
            </a:lvl6pPr>
            <a:lvl7pPr marL="2579980" indent="0">
              <a:buNone/>
              <a:defRPr sz="1505" b="1"/>
            </a:lvl7pPr>
            <a:lvl8pPr marL="3009976" indent="0">
              <a:buNone/>
              <a:defRPr sz="1505" b="1"/>
            </a:lvl8pPr>
            <a:lvl9pPr marL="3439973" indent="0">
              <a:buNone/>
              <a:defRPr sz="150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9817" y="2505075"/>
            <a:ext cx="485087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4922" y="1681163"/>
            <a:ext cx="4874762" cy="823912"/>
          </a:xfrm>
        </p:spPr>
        <p:txBody>
          <a:bodyPr anchor="b"/>
          <a:lstStyle>
            <a:lvl1pPr marL="0" indent="0">
              <a:buNone/>
              <a:defRPr sz="2257" b="1"/>
            </a:lvl1pPr>
            <a:lvl2pPr marL="429997" indent="0">
              <a:buNone/>
              <a:defRPr sz="1881" b="1"/>
            </a:lvl2pPr>
            <a:lvl3pPr marL="859993" indent="0">
              <a:buNone/>
              <a:defRPr sz="1693" b="1"/>
            </a:lvl3pPr>
            <a:lvl4pPr marL="1289990" indent="0">
              <a:buNone/>
              <a:defRPr sz="1505" b="1"/>
            </a:lvl4pPr>
            <a:lvl5pPr marL="1719986" indent="0">
              <a:buNone/>
              <a:defRPr sz="1505" b="1"/>
            </a:lvl5pPr>
            <a:lvl6pPr marL="2149983" indent="0">
              <a:buNone/>
              <a:defRPr sz="1505" b="1"/>
            </a:lvl6pPr>
            <a:lvl7pPr marL="2579980" indent="0">
              <a:buNone/>
              <a:defRPr sz="1505" b="1"/>
            </a:lvl7pPr>
            <a:lvl8pPr marL="3009976" indent="0">
              <a:buNone/>
              <a:defRPr sz="1505" b="1"/>
            </a:lvl8pPr>
            <a:lvl9pPr marL="3439973" indent="0">
              <a:buNone/>
              <a:defRPr sz="150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4922" y="2505075"/>
            <a:ext cx="487476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9858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838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650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17" y="457200"/>
            <a:ext cx="3698249" cy="1600200"/>
          </a:xfrm>
        </p:spPr>
        <p:txBody>
          <a:bodyPr anchor="b"/>
          <a:lstStyle>
            <a:lvl1pPr>
              <a:defRPr sz="30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4762" y="987426"/>
            <a:ext cx="5804922" cy="4873625"/>
          </a:xfrm>
        </p:spPr>
        <p:txBody>
          <a:bodyPr/>
          <a:lstStyle>
            <a:lvl1pPr>
              <a:defRPr sz="3010"/>
            </a:lvl1pPr>
            <a:lvl2pPr>
              <a:defRPr sz="2633"/>
            </a:lvl2pPr>
            <a:lvl3pPr>
              <a:defRPr sz="2257"/>
            </a:lvl3pPr>
            <a:lvl4pPr>
              <a:defRPr sz="1881"/>
            </a:lvl4pPr>
            <a:lvl5pPr>
              <a:defRPr sz="1881"/>
            </a:lvl5pPr>
            <a:lvl6pPr>
              <a:defRPr sz="1881"/>
            </a:lvl6pPr>
            <a:lvl7pPr>
              <a:defRPr sz="1881"/>
            </a:lvl7pPr>
            <a:lvl8pPr>
              <a:defRPr sz="1881"/>
            </a:lvl8pPr>
            <a:lvl9pPr>
              <a:defRPr sz="18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9817" y="2057400"/>
            <a:ext cx="3698249" cy="3811588"/>
          </a:xfrm>
        </p:spPr>
        <p:txBody>
          <a:bodyPr/>
          <a:lstStyle>
            <a:lvl1pPr marL="0" indent="0">
              <a:buNone/>
              <a:defRPr sz="1505"/>
            </a:lvl1pPr>
            <a:lvl2pPr marL="429997" indent="0">
              <a:buNone/>
              <a:defRPr sz="1317"/>
            </a:lvl2pPr>
            <a:lvl3pPr marL="859993" indent="0">
              <a:buNone/>
              <a:defRPr sz="1129"/>
            </a:lvl3pPr>
            <a:lvl4pPr marL="1289990" indent="0">
              <a:buNone/>
              <a:defRPr sz="940"/>
            </a:lvl4pPr>
            <a:lvl5pPr marL="1719986" indent="0">
              <a:buNone/>
              <a:defRPr sz="940"/>
            </a:lvl5pPr>
            <a:lvl6pPr marL="2149983" indent="0">
              <a:buNone/>
              <a:defRPr sz="940"/>
            </a:lvl6pPr>
            <a:lvl7pPr marL="2579980" indent="0">
              <a:buNone/>
              <a:defRPr sz="940"/>
            </a:lvl7pPr>
            <a:lvl8pPr marL="3009976" indent="0">
              <a:buNone/>
              <a:defRPr sz="940"/>
            </a:lvl8pPr>
            <a:lvl9pPr marL="3439973" indent="0">
              <a:buNone/>
              <a:defRPr sz="94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463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17" y="457200"/>
            <a:ext cx="3698249" cy="1600200"/>
          </a:xfrm>
        </p:spPr>
        <p:txBody>
          <a:bodyPr anchor="b"/>
          <a:lstStyle>
            <a:lvl1pPr>
              <a:defRPr sz="30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4762" y="987426"/>
            <a:ext cx="5804922" cy="4873625"/>
          </a:xfrm>
        </p:spPr>
        <p:txBody>
          <a:bodyPr anchor="t"/>
          <a:lstStyle>
            <a:lvl1pPr marL="0" indent="0">
              <a:buNone/>
              <a:defRPr sz="3010"/>
            </a:lvl1pPr>
            <a:lvl2pPr marL="429997" indent="0">
              <a:buNone/>
              <a:defRPr sz="2633"/>
            </a:lvl2pPr>
            <a:lvl3pPr marL="859993" indent="0">
              <a:buNone/>
              <a:defRPr sz="2257"/>
            </a:lvl3pPr>
            <a:lvl4pPr marL="1289990" indent="0">
              <a:buNone/>
              <a:defRPr sz="1881"/>
            </a:lvl4pPr>
            <a:lvl5pPr marL="1719986" indent="0">
              <a:buNone/>
              <a:defRPr sz="1881"/>
            </a:lvl5pPr>
            <a:lvl6pPr marL="2149983" indent="0">
              <a:buNone/>
              <a:defRPr sz="1881"/>
            </a:lvl6pPr>
            <a:lvl7pPr marL="2579980" indent="0">
              <a:buNone/>
              <a:defRPr sz="1881"/>
            </a:lvl7pPr>
            <a:lvl8pPr marL="3009976" indent="0">
              <a:buNone/>
              <a:defRPr sz="1881"/>
            </a:lvl8pPr>
            <a:lvl9pPr marL="3439973" indent="0">
              <a:buNone/>
              <a:defRPr sz="1881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9817" y="2057400"/>
            <a:ext cx="3698249" cy="3811588"/>
          </a:xfrm>
        </p:spPr>
        <p:txBody>
          <a:bodyPr/>
          <a:lstStyle>
            <a:lvl1pPr marL="0" indent="0">
              <a:buNone/>
              <a:defRPr sz="1505"/>
            </a:lvl1pPr>
            <a:lvl2pPr marL="429997" indent="0">
              <a:buNone/>
              <a:defRPr sz="1317"/>
            </a:lvl2pPr>
            <a:lvl3pPr marL="859993" indent="0">
              <a:buNone/>
              <a:defRPr sz="1129"/>
            </a:lvl3pPr>
            <a:lvl4pPr marL="1289990" indent="0">
              <a:buNone/>
              <a:defRPr sz="940"/>
            </a:lvl4pPr>
            <a:lvl5pPr marL="1719986" indent="0">
              <a:buNone/>
              <a:defRPr sz="940"/>
            </a:lvl5pPr>
            <a:lvl6pPr marL="2149983" indent="0">
              <a:buNone/>
              <a:defRPr sz="940"/>
            </a:lvl6pPr>
            <a:lvl7pPr marL="2579980" indent="0">
              <a:buNone/>
              <a:defRPr sz="940"/>
            </a:lvl7pPr>
            <a:lvl8pPr marL="3009976" indent="0">
              <a:buNone/>
              <a:defRPr sz="940"/>
            </a:lvl8pPr>
            <a:lvl9pPr marL="3439973" indent="0">
              <a:buNone/>
              <a:defRPr sz="94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941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499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5723" y="365125"/>
            <a:ext cx="2472467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8323" y="365125"/>
            <a:ext cx="7274069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42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8323" y="365126"/>
            <a:ext cx="9889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8323" y="1825625"/>
            <a:ext cx="98898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8323" y="6356351"/>
            <a:ext cx="25799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CD499-ABA9-4152-BE4C-9EA52FE70224}" type="datetimeFigureOut">
              <a:rPr lang="es-CO" smtClean="0"/>
              <a:t>29/10/2025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98283" y="6356351"/>
            <a:ext cx="3869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98225" y="6356351"/>
            <a:ext cx="25799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826DD-4AE3-436B-966F-19A41F6DCB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758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859993" rtl="0" eaLnBrk="1" latinLnBrk="0" hangingPunct="1">
        <a:lnSpc>
          <a:spcPct val="90000"/>
        </a:lnSpc>
        <a:spcBef>
          <a:spcPct val="0"/>
        </a:spcBef>
        <a:buNone/>
        <a:defRPr sz="41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998" indent="-214998" algn="l" defTabSz="859993" rtl="0" eaLnBrk="1" latinLnBrk="0" hangingPunct="1">
        <a:lnSpc>
          <a:spcPct val="90000"/>
        </a:lnSpc>
        <a:spcBef>
          <a:spcPts val="940"/>
        </a:spcBef>
        <a:buFont typeface="Arial" panose="020B0604020202020204" pitchFamily="34" charset="0"/>
        <a:buChar char="•"/>
        <a:defRPr sz="2633" kern="1200">
          <a:solidFill>
            <a:schemeClr val="tx1"/>
          </a:solidFill>
          <a:latin typeface="+mn-lt"/>
          <a:ea typeface="+mn-ea"/>
          <a:cs typeface="+mn-cs"/>
        </a:defRPr>
      </a:lvl1pPr>
      <a:lvl2pPr marL="644995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7" kern="1200">
          <a:solidFill>
            <a:schemeClr val="tx1"/>
          </a:solidFill>
          <a:latin typeface="+mn-lt"/>
          <a:ea typeface="+mn-ea"/>
          <a:cs typeface="+mn-cs"/>
        </a:defRPr>
      </a:lvl2pPr>
      <a:lvl3pPr marL="1074992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81" kern="1200">
          <a:solidFill>
            <a:schemeClr val="tx1"/>
          </a:solidFill>
          <a:latin typeface="+mn-lt"/>
          <a:ea typeface="+mn-ea"/>
          <a:cs typeface="+mn-cs"/>
        </a:defRPr>
      </a:lvl3pPr>
      <a:lvl4pPr marL="1504988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934985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5pPr>
      <a:lvl6pPr marL="2364981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794978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224975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654971" indent="-214998" algn="l" defTabSz="859993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1pPr>
      <a:lvl2pPr marL="429997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2pPr>
      <a:lvl3pPr marL="859993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3pPr>
      <a:lvl4pPr marL="1289990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4pPr>
      <a:lvl5pPr marL="1719986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5pPr>
      <a:lvl6pPr marL="2149983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6pPr>
      <a:lvl7pPr marL="2579980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7pPr>
      <a:lvl8pPr marL="3009976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8pPr>
      <a:lvl9pPr marL="3439973" algn="l" defTabSz="859993" rtl="0" eaLnBrk="1" latinLnBrk="0" hangingPunct="1">
        <a:defRPr sz="16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svg"/><Relationship Id="rId11" Type="http://schemas.openxmlformats.org/officeDocument/2006/relationships/image" Target="../media/image33.sv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svg"/><Relationship Id="rId9" Type="http://schemas.openxmlformats.org/officeDocument/2006/relationships/image" Target="../media/image3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3F3629-79D8-C13B-F03A-5EDD99989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"/>
          <a:stretch>
            <a:fillRect/>
          </a:stretch>
        </p:blipFill>
        <p:spPr>
          <a:xfrm>
            <a:off x="1895" y="0"/>
            <a:ext cx="11464618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35821C-5BBE-7444-181B-43EE22A936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>
                <a:latin typeface="TT Interphases"/>
              </a:rPr>
              <a:t>Datos que Hablan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A54685-9274-B0A7-D968-9A2626E23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3314" y="3602038"/>
            <a:ext cx="8599885" cy="2387600"/>
          </a:xfrm>
        </p:spPr>
        <p:txBody>
          <a:bodyPr>
            <a:normAutofit fontScale="92500" lnSpcReduction="20000"/>
          </a:bodyPr>
          <a:lstStyle/>
          <a:p>
            <a:r>
              <a:rPr lang="es-ES" dirty="0">
                <a:latin typeface="TT Interphases"/>
              </a:rPr>
              <a:t>Análisis de la Deforestación del Chocó con Power BI</a:t>
            </a:r>
          </a:p>
          <a:p>
            <a:r>
              <a:rPr lang="es-ES" dirty="0">
                <a:latin typeface="TT Interphases"/>
              </a:rPr>
              <a:t>Autores: </a:t>
            </a:r>
          </a:p>
          <a:p>
            <a:r>
              <a:rPr lang="es-ES" dirty="0">
                <a:latin typeface="TT Interphases"/>
              </a:rPr>
              <a:t>Ramón Stiven Murillo Palacios</a:t>
            </a:r>
          </a:p>
          <a:p>
            <a:r>
              <a:rPr lang="es-ES" dirty="0">
                <a:latin typeface="TT Interphases"/>
              </a:rPr>
              <a:t> Maikol Smith Hinestroza Moreno</a:t>
            </a:r>
          </a:p>
          <a:p>
            <a:r>
              <a:rPr lang="es-ES" dirty="0">
                <a:latin typeface="TT Interphases"/>
              </a:rPr>
              <a:t> </a:t>
            </a:r>
            <a:r>
              <a:rPr lang="es-ES" dirty="0" err="1">
                <a:latin typeface="TT Interphases"/>
              </a:rPr>
              <a:t>Emilson</a:t>
            </a:r>
            <a:r>
              <a:rPr lang="es-ES" dirty="0">
                <a:latin typeface="TT Interphases"/>
              </a:rPr>
              <a:t> Enrique Perea Moreno. </a:t>
            </a:r>
          </a:p>
          <a:p>
            <a:r>
              <a:rPr lang="es-ES" dirty="0">
                <a:latin typeface="TT Interphases"/>
              </a:rPr>
              <a:t>Docente: </a:t>
            </a:r>
          </a:p>
          <a:p>
            <a:r>
              <a:rPr lang="es-ES" dirty="0">
                <a:latin typeface="TT Interphases"/>
              </a:rPr>
              <a:t>Ing. Martha Imelda Luna López</a:t>
            </a:r>
          </a:p>
        </p:txBody>
      </p:sp>
    </p:spTree>
    <p:extLst>
      <p:ext uri="{BB962C8B-B14F-4D97-AF65-F5344CB8AC3E}">
        <p14:creationId xmlns:p14="http://schemas.microsoft.com/office/powerpoint/2010/main" val="167389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934"/>
            <a:ext cx="11466513" cy="6847065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F2BE16BE-130A-A370-7EA8-89DF151F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TT Interphases"/>
              </a:rPr>
              <a:t>¿Que hace un analista de datos?</a:t>
            </a:r>
            <a:endParaRPr lang="es-CO" dirty="0">
              <a:latin typeface="TT Interphases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4DF0A05-F979-BCA8-3627-F21C07F8A6C2}"/>
              </a:ext>
            </a:extLst>
          </p:cNvPr>
          <p:cNvGrpSpPr/>
          <p:nvPr/>
        </p:nvGrpSpPr>
        <p:grpSpPr>
          <a:xfrm>
            <a:off x="788323" y="1694212"/>
            <a:ext cx="3698333" cy="3807279"/>
            <a:chOff x="1028700" y="407140"/>
            <a:chExt cx="7024465" cy="7877892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54BF3EAD-F251-32AF-9DB1-2B21FC7EDCF2}"/>
                </a:ext>
              </a:extLst>
            </p:cNvPr>
            <p:cNvSpPr/>
            <p:nvPr/>
          </p:nvSpPr>
          <p:spPr>
            <a:xfrm>
              <a:off x="1780561" y="3620496"/>
              <a:ext cx="6272604" cy="4664536"/>
            </a:xfrm>
            <a:custGeom>
              <a:avLst/>
              <a:gdLst/>
              <a:ahLst/>
              <a:cxnLst/>
              <a:rect l="l" t="t" r="r" b="b"/>
              <a:pathLst>
                <a:path w="6272604" h="4664536">
                  <a:moveTo>
                    <a:pt x="0" y="0"/>
                  </a:moveTo>
                  <a:lnTo>
                    <a:pt x="6272604" y="0"/>
                  </a:lnTo>
                  <a:lnTo>
                    <a:pt x="6272604" y="4664536"/>
                  </a:lnTo>
                  <a:lnTo>
                    <a:pt x="0" y="4664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B3DAB703-721D-6504-1D03-D04C1178EF09}"/>
                </a:ext>
              </a:extLst>
            </p:cNvPr>
            <p:cNvSpPr/>
            <p:nvPr/>
          </p:nvSpPr>
          <p:spPr>
            <a:xfrm>
              <a:off x="1028700" y="1028700"/>
              <a:ext cx="2549625" cy="2416905"/>
            </a:xfrm>
            <a:custGeom>
              <a:avLst/>
              <a:gdLst/>
              <a:ahLst/>
              <a:cxnLst/>
              <a:rect l="l" t="t" r="r" b="b"/>
              <a:pathLst>
                <a:path w="2549625" h="2416905">
                  <a:moveTo>
                    <a:pt x="0" y="0"/>
                  </a:moveTo>
                  <a:lnTo>
                    <a:pt x="2549625" y="0"/>
                  </a:lnTo>
                  <a:lnTo>
                    <a:pt x="2549625" y="2416905"/>
                  </a:lnTo>
                  <a:lnTo>
                    <a:pt x="0" y="2416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A3FFC707-0B22-35F9-5236-59A3A6452B51}"/>
                </a:ext>
              </a:extLst>
            </p:cNvPr>
            <p:cNvSpPr/>
            <p:nvPr/>
          </p:nvSpPr>
          <p:spPr>
            <a:xfrm>
              <a:off x="3796497" y="407140"/>
              <a:ext cx="2240733" cy="2057400"/>
            </a:xfrm>
            <a:custGeom>
              <a:avLst/>
              <a:gdLst/>
              <a:ahLst/>
              <a:cxnLst/>
              <a:rect l="l" t="t" r="r" b="b"/>
              <a:pathLst>
                <a:path w="2240733" h="2057400">
                  <a:moveTo>
                    <a:pt x="0" y="0"/>
                  </a:moveTo>
                  <a:lnTo>
                    <a:pt x="2240732" y="0"/>
                  </a:lnTo>
                  <a:lnTo>
                    <a:pt x="2240732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B94351-D67E-1019-0D41-BBD57BEB8853}"/>
              </a:ext>
            </a:extLst>
          </p:cNvPr>
          <p:cNvSpPr txBox="1"/>
          <p:nvPr/>
        </p:nvSpPr>
        <p:spPr>
          <a:xfrm>
            <a:off x="4803862" y="2024986"/>
            <a:ext cx="5939936" cy="3145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 analistas de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son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profesionales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que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recopilan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analizan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interpretan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para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ayudar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 las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organizaciones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tomar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decisiones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informadas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mejorar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desempeño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Su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tarea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es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identificar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patrones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tendencias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desarrollar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modelos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crear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visualizaciones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efectivas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para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comunicar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resultados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 las personas que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tengan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interés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proyecto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para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cual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se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analizan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Los analistas de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trabajan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estrecha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colaboración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con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equipos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negocio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otros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departamentos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para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entender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sus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necesidades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desarrollar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soluciones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basadas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lo que les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permite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identificar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8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oportunidades</a:t>
            </a:r>
            <a:r>
              <a:rPr lang="en-US" sz="18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z="18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mejora</a:t>
            </a:r>
            <a:r>
              <a:rPr lang="en-US" sz="18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8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optimizar</a:t>
            </a:r>
            <a:r>
              <a:rPr lang="en-US" sz="18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8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procesos</a:t>
            </a:r>
            <a:r>
              <a:rPr lang="en-US" sz="18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8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reducir</a:t>
            </a:r>
            <a:r>
              <a:rPr lang="en-US" sz="18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8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riesgos</a:t>
            </a:r>
            <a:r>
              <a:rPr lang="en-US" sz="18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525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934"/>
            <a:ext cx="11466513" cy="6847065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EDEC9767-1B30-5160-F0A9-F3638EC1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TT Interphases"/>
              </a:rPr>
              <a:t>Habilidades del analista de datos</a:t>
            </a:r>
            <a:endParaRPr lang="es-CO" dirty="0">
              <a:latin typeface="TT Interphases"/>
            </a:endParaRPr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B82DD1E8-2214-B51B-66C7-FAAB0BA0F609}"/>
              </a:ext>
            </a:extLst>
          </p:cNvPr>
          <p:cNvSpPr/>
          <p:nvPr/>
        </p:nvSpPr>
        <p:spPr>
          <a:xfrm>
            <a:off x="3058856" y="4147646"/>
            <a:ext cx="995978" cy="944132"/>
          </a:xfrm>
          <a:custGeom>
            <a:avLst/>
            <a:gdLst/>
            <a:ahLst/>
            <a:cxnLst/>
            <a:rect l="l" t="t" r="r" b="b"/>
            <a:pathLst>
              <a:path w="995978" h="944132">
                <a:moveTo>
                  <a:pt x="0" y="0"/>
                </a:moveTo>
                <a:lnTo>
                  <a:pt x="995978" y="0"/>
                </a:lnTo>
                <a:lnTo>
                  <a:pt x="995978" y="944132"/>
                </a:lnTo>
                <a:lnTo>
                  <a:pt x="0" y="9441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0BEF5BDC-E59E-1F5C-F620-9CDB5FE98B03}"/>
              </a:ext>
            </a:extLst>
          </p:cNvPr>
          <p:cNvSpPr/>
          <p:nvPr/>
        </p:nvSpPr>
        <p:spPr>
          <a:xfrm>
            <a:off x="4366058" y="4083777"/>
            <a:ext cx="763889" cy="944132"/>
          </a:xfrm>
          <a:custGeom>
            <a:avLst/>
            <a:gdLst/>
            <a:ahLst/>
            <a:cxnLst/>
            <a:rect l="l" t="t" r="r" b="b"/>
            <a:pathLst>
              <a:path w="763889" h="944132">
                <a:moveTo>
                  <a:pt x="0" y="0"/>
                </a:moveTo>
                <a:lnTo>
                  <a:pt x="763889" y="0"/>
                </a:lnTo>
                <a:lnTo>
                  <a:pt x="763889" y="944132"/>
                </a:lnTo>
                <a:lnTo>
                  <a:pt x="0" y="9441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F148687-CC37-D87A-16C1-27FDD981F1AE}"/>
              </a:ext>
            </a:extLst>
          </p:cNvPr>
          <p:cNvGrpSpPr/>
          <p:nvPr/>
        </p:nvGrpSpPr>
        <p:grpSpPr>
          <a:xfrm>
            <a:off x="1836593" y="1690689"/>
            <a:ext cx="7793323" cy="3304294"/>
            <a:chOff x="8259875" y="5114925"/>
            <a:chExt cx="7793323" cy="3304294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76A4268-BF2F-3D54-7832-351469DADB33}"/>
                </a:ext>
              </a:extLst>
            </p:cNvPr>
            <p:cNvSpPr/>
            <p:nvPr/>
          </p:nvSpPr>
          <p:spPr>
            <a:xfrm>
              <a:off x="8259875" y="7540940"/>
              <a:ext cx="878279" cy="878279"/>
            </a:xfrm>
            <a:custGeom>
              <a:avLst/>
              <a:gdLst/>
              <a:ahLst/>
              <a:cxnLst/>
              <a:rect l="l" t="t" r="r" b="b"/>
              <a:pathLst>
                <a:path w="878279" h="878279">
                  <a:moveTo>
                    <a:pt x="0" y="0"/>
                  </a:moveTo>
                  <a:lnTo>
                    <a:pt x="878279" y="0"/>
                  </a:lnTo>
                  <a:lnTo>
                    <a:pt x="878279" y="878279"/>
                  </a:lnTo>
                  <a:lnTo>
                    <a:pt x="0" y="878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9B51E1CB-8DF3-6B65-00CA-57BFCA31CBDF}"/>
                </a:ext>
              </a:extLst>
            </p:cNvPr>
            <p:cNvSpPr/>
            <p:nvPr/>
          </p:nvSpPr>
          <p:spPr>
            <a:xfrm>
              <a:off x="13572870" y="7052945"/>
              <a:ext cx="1475326" cy="1261404"/>
            </a:xfrm>
            <a:custGeom>
              <a:avLst/>
              <a:gdLst/>
              <a:ahLst/>
              <a:cxnLst/>
              <a:rect l="l" t="t" r="r" b="b"/>
              <a:pathLst>
                <a:path w="1475326" h="1261404">
                  <a:moveTo>
                    <a:pt x="0" y="0"/>
                  </a:moveTo>
                  <a:lnTo>
                    <a:pt x="1475326" y="0"/>
                  </a:lnTo>
                  <a:lnTo>
                    <a:pt x="1475326" y="1261404"/>
                  </a:lnTo>
                  <a:lnTo>
                    <a:pt x="0" y="1261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5904D9D2-0EAC-466C-6DC2-03963B433C25}"/>
                </a:ext>
              </a:extLst>
            </p:cNvPr>
            <p:cNvSpPr txBox="1"/>
            <p:nvPr/>
          </p:nvSpPr>
          <p:spPr>
            <a:xfrm>
              <a:off x="8391467" y="5616356"/>
              <a:ext cx="3485330" cy="2052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Conocimientos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estadística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matemáticas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programación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(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por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ejemplo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Python, R, SQL) y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herramientas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de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análisis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de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datos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(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por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ejemplo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Excel, Tableau, Power BI).</a:t>
              </a:r>
            </a:p>
            <a:p>
              <a:pPr algn="ctr">
                <a:lnSpc>
                  <a:spcPts val="2380"/>
                </a:lnSpc>
              </a:pPr>
              <a:endPara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  <a:p>
              <a:pPr algn="ctr">
                <a:lnSpc>
                  <a:spcPts val="2380"/>
                </a:lnSpc>
              </a:pPr>
              <a:endPara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3D39695B-8C71-3024-9994-27CE498AA80F}"/>
                </a:ext>
              </a:extLst>
            </p:cNvPr>
            <p:cNvSpPr txBox="1"/>
            <p:nvPr/>
          </p:nvSpPr>
          <p:spPr>
            <a:xfrm>
              <a:off x="9138154" y="5114925"/>
              <a:ext cx="1991955" cy="280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700" b="1" spc="-83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Habilidades técnicas</a:t>
              </a:r>
            </a:p>
          </p:txBody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4C127B1A-16AA-073F-0C48-D83577747880}"/>
                </a:ext>
              </a:extLst>
            </p:cNvPr>
            <p:cNvSpPr txBox="1"/>
            <p:nvPr/>
          </p:nvSpPr>
          <p:spPr>
            <a:xfrm>
              <a:off x="13830858" y="5114925"/>
              <a:ext cx="959350" cy="280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80"/>
                </a:lnSpc>
              </a:pPr>
              <a:r>
                <a:rPr lang="en-US" sz="1700" b="1" spc="-83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Soft Skills</a:t>
              </a:r>
            </a:p>
          </p:txBody>
        </p:sp>
        <p:sp>
          <p:nvSpPr>
            <p:cNvPr id="11" name="TextBox 13">
              <a:extLst>
                <a:ext uri="{FF2B5EF4-FFF2-40B4-BE49-F238E27FC236}">
                  <a16:creationId xmlns:a16="http://schemas.microsoft.com/office/drawing/2014/main" id="{63FADF6F-1001-6949-DE72-B8F692A981E7}"/>
                </a:ext>
              </a:extLst>
            </p:cNvPr>
            <p:cNvSpPr txBox="1"/>
            <p:nvPr/>
          </p:nvSpPr>
          <p:spPr>
            <a:xfrm>
              <a:off x="12567868" y="5616356"/>
              <a:ext cx="3485330" cy="1757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Capacidad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para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comunicarse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efectivamente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con un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equipo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y personas no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técnicas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trabajar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equipo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y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pensar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de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manera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1700" spc="-83" dirty="0" err="1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crítica</a:t>
              </a:r>
              <a:r>
                <a:rPr lang="en-US" sz="1700" spc="-83" dirty="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  <a:p>
              <a:pPr algn="ctr">
                <a:lnSpc>
                  <a:spcPts val="2380"/>
                </a:lnSpc>
              </a:pPr>
              <a:endPara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  <a:p>
              <a:pPr algn="ctr">
                <a:lnSpc>
                  <a:spcPts val="2380"/>
                </a:lnSpc>
              </a:pPr>
              <a:endPara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014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935"/>
            <a:ext cx="11466513" cy="6847065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EDEC9767-1B30-5160-F0A9-F3638EC1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TT Interphases"/>
              </a:rPr>
              <a:t>Las partes de un análisis de datos</a:t>
            </a:r>
            <a:endParaRPr lang="es-CO" dirty="0">
              <a:latin typeface="TT Interphases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511EB1D-CEEB-7D6E-8664-F022C357D6A6}"/>
              </a:ext>
            </a:extLst>
          </p:cNvPr>
          <p:cNvSpPr/>
          <p:nvPr/>
        </p:nvSpPr>
        <p:spPr>
          <a:xfrm>
            <a:off x="3873901" y="2974235"/>
            <a:ext cx="234571" cy="139804"/>
          </a:xfrm>
          <a:custGeom>
            <a:avLst/>
            <a:gdLst/>
            <a:ahLst/>
            <a:cxnLst/>
            <a:rect l="l" t="t" r="r" b="b"/>
            <a:pathLst>
              <a:path w="291723" h="202084">
                <a:moveTo>
                  <a:pt x="0" y="0"/>
                </a:moveTo>
                <a:lnTo>
                  <a:pt x="291723" y="0"/>
                </a:lnTo>
                <a:lnTo>
                  <a:pt x="291723" y="202084"/>
                </a:lnTo>
                <a:lnTo>
                  <a:pt x="0" y="202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9E31C299-9E06-AF8D-DB03-F4E2485BB60E}"/>
              </a:ext>
            </a:extLst>
          </p:cNvPr>
          <p:cNvSpPr/>
          <p:nvPr/>
        </p:nvSpPr>
        <p:spPr>
          <a:xfrm>
            <a:off x="7591739" y="2974235"/>
            <a:ext cx="234571" cy="139804"/>
          </a:xfrm>
          <a:custGeom>
            <a:avLst/>
            <a:gdLst/>
            <a:ahLst/>
            <a:cxnLst/>
            <a:rect l="l" t="t" r="r" b="b"/>
            <a:pathLst>
              <a:path w="291723" h="202084">
                <a:moveTo>
                  <a:pt x="0" y="0"/>
                </a:moveTo>
                <a:lnTo>
                  <a:pt x="291723" y="0"/>
                </a:lnTo>
                <a:lnTo>
                  <a:pt x="291723" y="202084"/>
                </a:lnTo>
                <a:lnTo>
                  <a:pt x="0" y="202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47F8F34F-AB65-1BB0-90ED-A0A6D93EDB25}"/>
              </a:ext>
            </a:extLst>
          </p:cNvPr>
          <p:cNvSpPr txBox="1"/>
          <p:nvPr/>
        </p:nvSpPr>
        <p:spPr>
          <a:xfrm>
            <a:off x="155864" y="1963900"/>
            <a:ext cx="3698631" cy="2628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</a:pP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pueden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ser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recopilados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través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diversas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fuentes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métodos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incluyendo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encuestas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línea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presenciales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retroalimentación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grupos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específicos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análisis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redes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sociales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para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entender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tendencias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opiniones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bases de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públicas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privadas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monitoreo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sitios web y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aplicaciones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para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analizar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comportamientos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z="1618" spc="-79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usuarios</a:t>
            </a:r>
            <a:r>
              <a:rPr lang="en-US" sz="1618" spc="-79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E2638D43-A0CD-01CA-DDAF-8338A1492FE2}"/>
              </a:ext>
            </a:extLst>
          </p:cNvPr>
          <p:cNvSpPr txBox="1"/>
          <p:nvPr/>
        </p:nvSpPr>
        <p:spPr>
          <a:xfrm>
            <a:off x="1035335" y="1580666"/>
            <a:ext cx="1939687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Recolección</a:t>
            </a:r>
            <a:r>
              <a:rPr lang="en-US" sz="1700" b="1" spc="-83" dirty="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3507B78F-B4CA-A11B-195A-27F90C9A2859}"/>
              </a:ext>
            </a:extLst>
          </p:cNvPr>
          <p:cNvSpPr txBox="1"/>
          <p:nvPr/>
        </p:nvSpPr>
        <p:spPr>
          <a:xfrm>
            <a:off x="4463322" y="2204335"/>
            <a:ext cx="2901666" cy="1819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limpieza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procesamiento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implican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identificar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corregir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errores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manejar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valores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faltantes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eliminar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duplicados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transformar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un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formato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adecuado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2646086A-3F7A-EF64-DC64-2DCE08F14799}"/>
              </a:ext>
            </a:extLst>
          </p:cNvPr>
          <p:cNvSpPr txBox="1"/>
          <p:nvPr/>
        </p:nvSpPr>
        <p:spPr>
          <a:xfrm>
            <a:off x="4463323" y="1546769"/>
            <a:ext cx="2901665" cy="28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Limpieza</a:t>
            </a:r>
            <a:r>
              <a:rPr lang="en-US" sz="1700" b="1" spc="-83" dirty="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y </a:t>
            </a:r>
            <a:r>
              <a:rPr lang="en-US" sz="17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procesamiento</a:t>
            </a:r>
            <a:endParaRPr lang="en-US" sz="1700" b="1" spc="-83" dirty="0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2F3160A1-90EC-7030-20F3-E4440E4A5CF9}"/>
              </a:ext>
            </a:extLst>
          </p:cNvPr>
          <p:cNvSpPr txBox="1"/>
          <p:nvPr/>
        </p:nvSpPr>
        <p:spPr>
          <a:xfrm>
            <a:off x="7895658" y="2060465"/>
            <a:ext cx="3227876" cy="2434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Una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vez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que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han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sido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recopilados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limpiados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procesados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 se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aplican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técnicas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análisis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modelado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para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extraer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información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valiosa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En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esta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etapa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se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utilizan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métodos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estadísticos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para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identificar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patrones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tendencias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relaciones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7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7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7E3B6C58-BD40-7201-A92F-B9C7940CFD04}"/>
              </a:ext>
            </a:extLst>
          </p:cNvPr>
          <p:cNvSpPr txBox="1"/>
          <p:nvPr/>
        </p:nvSpPr>
        <p:spPr>
          <a:xfrm>
            <a:off x="8533925" y="1492861"/>
            <a:ext cx="1939687" cy="19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Analisis</a:t>
            </a:r>
            <a:r>
              <a:rPr lang="en-US" sz="1700" b="1" spc="-83" dirty="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y </a:t>
            </a:r>
            <a:r>
              <a:rPr lang="en-US" sz="17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modelado</a:t>
            </a:r>
            <a:endParaRPr lang="en-US" sz="1700" b="1" spc="-83" dirty="0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78780254-07F5-74BB-452F-933587002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14665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E1EFD12-731C-3554-03FD-B93BF4E79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14665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9CC6FFE7-9665-8E41-3D54-C107A04185D7}"/>
              </a:ext>
            </a:extLst>
          </p:cNvPr>
          <p:cNvSpPr/>
          <p:nvPr/>
        </p:nvSpPr>
        <p:spPr>
          <a:xfrm>
            <a:off x="5191161" y="4400783"/>
            <a:ext cx="1388990" cy="1400031"/>
          </a:xfrm>
          <a:custGeom>
            <a:avLst/>
            <a:gdLst/>
            <a:ahLst/>
            <a:cxnLst/>
            <a:rect l="l" t="t" r="r" b="b"/>
            <a:pathLst>
              <a:path w="4107319" h="4114800">
                <a:moveTo>
                  <a:pt x="0" y="0"/>
                </a:moveTo>
                <a:lnTo>
                  <a:pt x="4107318" y="0"/>
                </a:lnTo>
                <a:lnTo>
                  <a:pt x="41073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2">
            <a:extLst>
              <a:ext uri="{FF2B5EF4-FFF2-40B4-BE49-F238E27FC236}">
                <a16:creationId xmlns:a16="http://schemas.microsoft.com/office/drawing/2014/main" id="{DABAFD25-00EA-2491-DFB8-A228789CE3DE}"/>
              </a:ext>
            </a:extLst>
          </p:cNvPr>
          <p:cNvSpPr/>
          <p:nvPr/>
        </p:nvSpPr>
        <p:spPr>
          <a:xfrm>
            <a:off x="1406559" y="4410655"/>
            <a:ext cx="1144912" cy="1400031"/>
          </a:xfrm>
          <a:custGeom>
            <a:avLst/>
            <a:gdLst/>
            <a:ahLst/>
            <a:cxnLst/>
            <a:rect l="l" t="t" r="r" b="b"/>
            <a:pathLst>
              <a:path w="3020950" h="4114800">
                <a:moveTo>
                  <a:pt x="0" y="0"/>
                </a:moveTo>
                <a:lnTo>
                  <a:pt x="3020950" y="0"/>
                </a:lnTo>
                <a:lnTo>
                  <a:pt x="30209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995CDBE4-A109-D51F-F568-3FF1F3AC1E8A}"/>
              </a:ext>
            </a:extLst>
          </p:cNvPr>
          <p:cNvSpPr/>
          <p:nvPr/>
        </p:nvSpPr>
        <p:spPr>
          <a:xfrm>
            <a:off x="8504453" y="4382849"/>
            <a:ext cx="1555501" cy="1400032"/>
          </a:xfrm>
          <a:custGeom>
            <a:avLst/>
            <a:gdLst/>
            <a:ahLst/>
            <a:cxnLst/>
            <a:rect l="l" t="t" r="r" b="b"/>
            <a:pathLst>
              <a:path w="4149046" h="4114800">
                <a:moveTo>
                  <a:pt x="0" y="0"/>
                </a:moveTo>
                <a:lnTo>
                  <a:pt x="4149046" y="0"/>
                </a:lnTo>
                <a:lnTo>
                  <a:pt x="41490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4247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934"/>
            <a:ext cx="11466513" cy="684706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3A0B228-D0DB-C49F-CD6A-F3F6F752E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Tipos de análisis </a:t>
            </a:r>
            <a:r>
              <a:rPr lang="es-ES" dirty="0">
                <a:latin typeface="TT Interphases"/>
              </a:rPr>
              <a:t>de</a:t>
            </a:r>
            <a:r>
              <a:rPr lang="es-ES" dirty="0"/>
              <a:t> datos</a:t>
            </a:r>
            <a:endParaRPr lang="es-CO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FFF1F0C1-436E-0D43-3EBD-2BEBCC9CB42E}"/>
              </a:ext>
            </a:extLst>
          </p:cNvPr>
          <p:cNvSpPr txBox="1"/>
          <p:nvPr/>
        </p:nvSpPr>
        <p:spPr>
          <a:xfrm>
            <a:off x="454558" y="3516292"/>
            <a:ext cx="5278697" cy="1200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Anticipa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lo que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puede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suceder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futuro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basándose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patrones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tendencias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Responde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preguntas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"¿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Qué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es probable que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suceda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?" y "¿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Cuáles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son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posibles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resultados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?"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A10D5557-3B5F-CCD3-2229-C4633F2A0DAA}"/>
              </a:ext>
            </a:extLst>
          </p:cNvPr>
          <p:cNvSpPr txBox="1"/>
          <p:nvPr/>
        </p:nvSpPr>
        <p:spPr>
          <a:xfrm>
            <a:off x="6187814" y="3464100"/>
            <a:ext cx="4870068" cy="893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Recomienda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acciones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para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lograr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un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objetivo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específico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considerando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las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posibles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consecuencias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cada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opción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Responde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preguntas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"¿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Cuál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es la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mejor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opción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?".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2338E4E0-CBEA-E2EA-2320-1B2D26A5033B}"/>
              </a:ext>
            </a:extLst>
          </p:cNvPr>
          <p:cNvSpPr txBox="1"/>
          <p:nvPr/>
        </p:nvSpPr>
        <p:spPr>
          <a:xfrm>
            <a:off x="6043167" y="1689492"/>
            <a:ext cx="4998645" cy="1200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Identifica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las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causas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raíz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un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problema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o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fenómeno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permitiendo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tomar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medidas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correctivas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Responde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preguntas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"¿Por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qué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sucedió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?" y "¿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Cuáles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son las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causas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subyacentes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?"</a:t>
            </a: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6D2E84FB-A6B0-EE85-7C4C-8ECFAE314191}"/>
              </a:ext>
            </a:extLst>
          </p:cNvPr>
          <p:cNvSpPr txBox="1"/>
          <p:nvPr/>
        </p:nvSpPr>
        <p:spPr>
          <a:xfrm>
            <a:off x="673529" y="1690242"/>
            <a:ext cx="4696108" cy="1198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Describe lo que ha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sucedido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pasado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identificando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patrones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tendencias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Responde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preguntas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como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"¿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Qué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pasó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?" y "¿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Cuáles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son las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características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1600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z="1600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?"</a:t>
            </a: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872DFCAF-D704-0157-DB64-90FB2C8A852F}"/>
              </a:ext>
            </a:extLst>
          </p:cNvPr>
          <p:cNvSpPr/>
          <p:nvPr/>
        </p:nvSpPr>
        <p:spPr>
          <a:xfrm>
            <a:off x="7782026" y="4782210"/>
            <a:ext cx="896306" cy="1069743"/>
          </a:xfrm>
          <a:custGeom>
            <a:avLst/>
            <a:gdLst/>
            <a:ahLst/>
            <a:cxnLst/>
            <a:rect l="l" t="t" r="r" b="b"/>
            <a:pathLst>
              <a:path w="1180684" h="1416367">
                <a:moveTo>
                  <a:pt x="0" y="0"/>
                </a:moveTo>
                <a:lnTo>
                  <a:pt x="1180684" y="0"/>
                </a:lnTo>
                <a:lnTo>
                  <a:pt x="1180684" y="1416367"/>
                </a:lnTo>
                <a:lnTo>
                  <a:pt x="0" y="1416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C17BD90A-20F3-D4DF-7619-7C0CE0B0C29D}"/>
              </a:ext>
            </a:extLst>
          </p:cNvPr>
          <p:cNvSpPr/>
          <p:nvPr/>
        </p:nvSpPr>
        <p:spPr>
          <a:xfrm>
            <a:off x="5854832" y="4588733"/>
            <a:ext cx="1053204" cy="1302528"/>
          </a:xfrm>
          <a:custGeom>
            <a:avLst/>
            <a:gdLst/>
            <a:ahLst/>
            <a:cxnLst/>
            <a:rect l="l" t="t" r="r" b="b"/>
            <a:pathLst>
              <a:path w="1368717" h="1695482">
                <a:moveTo>
                  <a:pt x="0" y="0"/>
                </a:moveTo>
                <a:lnTo>
                  <a:pt x="1368717" y="0"/>
                </a:lnTo>
                <a:lnTo>
                  <a:pt x="1368717" y="1695482"/>
                </a:lnTo>
                <a:lnTo>
                  <a:pt x="0" y="1695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B1A9EE42-3D14-CE45-884B-D05EFA0106A7}"/>
              </a:ext>
            </a:extLst>
          </p:cNvPr>
          <p:cNvSpPr/>
          <p:nvPr/>
        </p:nvSpPr>
        <p:spPr>
          <a:xfrm>
            <a:off x="2041934" y="4806313"/>
            <a:ext cx="1217564" cy="1052388"/>
          </a:xfrm>
          <a:custGeom>
            <a:avLst/>
            <a:gdLst/>
            <a:ahLst/>
            <a:cxnLst/>
            <a:rect l="l" t="t" r="r" b="b"/>
            <a:pathLst>
              <a:path w="1736238" h="1616872">
                <a:moveTo>
                  <a:pt x="0" y="0"/>
                </a:moveTo>
                <a:lnTo>
                  <a:pt x="1736239" y="0"/>
                </a:lnTo>
                <a:lnTo>
                  <a:pt x="1736239" y="1616872"/>
                </a:lnTo>
                <a:lnTo>
                  <a:pt x="0" y="16168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5CE15717-F7FE-92C0-09F6-59D097080F3D}"/>
              </a:ext>
            </a:extLst>
          </p:cNvPr>
          <p:cNvSpPr/>
          <p:nvPr/>
        </p:nvSpPr>
        <p:spPr>
          <a:xfrm>
            <a:off x="2280475" y="5239997"/>
            <a:ext cx="381883" cy="350153"/>
          </a:xfrm>
          <a:custGeom>
            <a:avLst/>
            <a:gdLst/>
            <a:ahLst/>
            <a:cxnLst/>
            <a:rect l="l" t="t" r="r" b="b"/>
            <a:pathLst>
              <a:path w="507916" h="433114">
                <a:moveTo>
                  <a:pt x="0" y="0"/>
                </a:moveTo>
                <a:lnTo>
                  <a:pt x="507917" y="0"/>
                </a:lnTo>
                <a:lnTo>
                  <a:pt x="507917" y="433114"/>
                </a:lnTo>
                <a:lnTo>
                  <a:pt x="0" y="4331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BC0147A8-6F80-7CE2-7B6A-19DBE437883B}"/>
              </a:ext>
            </a:extLst>
          </p:cNvPr>
          <p:cNvSpPr/>
          <p:nvPr/>
        </p:nvSpPr>
        <p:spPr>
          <a:xfrm>
            <a:off x="3952143" y="4782211"/>
            <a:ext cx="1028699" cy="1069743"/>
          </a:xfrm>
          <a:custGeom>
            <a:avLst/>
            <a:gdLst/>
            <a:ahLst/>
            <a:cxnLst/>
            <a:rect l="l" t="t" r="r" b="b"/>
            <a:pathLst>
              <a:path w="1565032" h="1565032">
                <a:moveTo>
                  <a:pt x="0" y="0"/>
                </a:moveTo>
                <a:lnTo>
                  <a:pt x="1565032" y="0"/>
                </a:lnTo>
                <a:lnTo>
                  <a:pt x="1565032" y="1565032"/>
                </a:lnTo>
                <a:lnTo>
                  <a:pt x="0" y="15650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D55B43AB-0EEF-B8B6-2370-F4524437000C}"/>
              </a:ext>
            </a:extLst>
          </p:cNvPr>
          <p:cNvSpPr txBox="1"/>
          <p:nvPr/>
        </p:nvSpPr>
        <p:spPr>
          <a:xfrm>
            <a:off x="2543740" y="3136882"/>
            <a:ext cx="1100332" cy="27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Predictivo</a:t>
            </a:r>
            <a:endParaRPr lang="en-US" sz="1600" b="1" spc="-83" dirty="0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34746FE7-31AF-4326-4FA4-462B17A54D23}"/>
              </a:ext>
            </a:extLst>
          </p:cNvPr>
          <p:cNvSpPr txBox="1"/>
          <p:nvPr/>
        </p:nvSpPr>
        <p:spPr>
          <a:xfrm>
            <a:off x="8008392" y="1332852"/>
            <a:ext cx="1100332" cy="27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Prescriptivo</a:t>
            </a:r>
            <a:r>
              <a:rPr lang="en-US" sz="1600" b="1" spc="-83" dirty="0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F83A46C-F69B-1DCF-30DB-5A3AC6A7E485}"/>
              </a:ext>
            </a:extLst>
          </p:cNvPr>
          <p:cNvSpPr txBox="1"/>
          <p:nvPr/>
        </p:nvSpPr>
        <p:spPr>
          <a:xfrm>
            <a:off x="8072682" y="3107460"/>
            <a:ext cx="1100332" cy="27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Diagnóstico</a:t>
            </a:r>
            <a:endParaRPr lang="en-US" sz="1600" b="1" spc="-83" dirty="0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31A90414-2701-5504-626E-F36138381BC7}"/>
              </a:ext>
            </a:extLst>
          </p:cNvPr>
          <p:cNvSpPr txBox="1"/>
          <p:nvPr/>
        </p:nvSpPr>
        <p:spPr>
          <a:xfrm>
            <a:off x="2471417" y="1347345"/>
            <a:ext cx="1100332" cy="27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 b="1" spc="-83" dirty="0" err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Descriptivo</a:t>
            </a:r>
            <a:endParaRPr lang="en-US" sz="1600" b="1" spc="-83" dirty="0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  <p:extLst>
      <p:ext uri="{BB962C8B-B14F-4D97-AF65-F5344CB8AC3E}">
        <p14:creationId xmlns:p14="http://schemas.microsoft.com/office/powerpoint/2010/main" val="386246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935"/>
            <a:ext cx="11466513" cy="6847065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EDEC9767-1B30-5160-F0A9-F3638EC1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latin typeface="TT Interphases"/>
              </a:rPr>
              <a:t>Aplicaciones</a:t>
            </a:r>
            <a:r>
              <a:rPr lang="es-ES" dirty="0"/>
              <a:t> del análisis de datos</a:t>
            </a:r>
            <a:endParaRPr lang="es-CO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BAA1527-E4D2-C1E6-359E-E2D57523CF6A}"/>
              </a:ext>
            </a:extLst>
          </p:cNvPr>
          <p:cNvSpPr txBox="1"/>
          <p:nvPr/>
        </p:nvSpPr>
        <p:spPr>
          <a:xfrm>
            <a:off x="2222303" y="2044879"/>
            <a:ext cx="7680822" cy="13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análisis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tiene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aplicaciones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diversas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áreas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como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negocios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salud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finanzas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marketing y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investigación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científica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permitiendo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optimizar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procesos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predecir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demanda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diagnosticar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enfermedades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detectar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fraude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personalizar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ofertas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tomar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decisiones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informadas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basadas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datos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precisos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 </a:t>
            </a:r>
            <a:r>
              <a:rPr lang="en-US" spc="-83" dirty="0" err="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relevantes</a:t>
            </a:r>
            <a:r>
              <a:rPr lang="en-US" spc="-83" dirty="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</p:txBody>
      </p:sp>
      <p:sp>
        <p:nvSpPr>
          <p:cNvPr id="37" name="Freeform 3">
            <a:extLst>
              <a:ext uri="{FF2B5EF4-FFF2-40B4-BE49-F238E27FC236}">
                <a16:creationId xmlns:a16="http://schemas.microsoft.com/office/drawing/2014/main" id="{C0B7C566-871E-2A92-BF4A-5E7C81D71E95}"/>
              </a:ext>
            </a:extLst>
          </p:cNvPr>
          <p:cNvSpPr/>
          <p:nvPr/>
        </p:nvSpPr>
        <p:spPr>
          <a:xfrm>
            <a:off x="1630916" y="4701638"/>
            <a:ext cx="989832" cy="931345"/>
          </a:xfrm>
          <a:custGeom>
            <a:avLst/>
            <a:gdLst/>
            <a:ahLst/>
            <a:cxnLst/>
            <a:rect l="l" t="t" r="r" b="b"/>
            <a:pathLst>
              <a:path w="1324311" h="1324311">
                <a:moveTo>
                  <a:pt x="0" y="0"/>
                </a:moveTo>
                <a:lnTo>
                  <a:pt x="1324311" y="0"/>
                </a:lnTo>
                <a:lnTo>
                  <a:pt x="1324311" y="1324311"/>
                </a:lnTo>
                <a:lnTo>
                  <a:pt x="0" y="1324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4">
            <a:extLst>
              <a:ext uri="{FF2B5EF4-FFF2-40B4-BE49-F238E27FC236}">
                <a16:creationId xmlns:a16="http://schemas.microsoft.com/office/drawing/2014/main" id="{19BEAD00-674E-915B-58EA-978A6EC22E43}"/>
              </a:ext>
            </a:extLst>
          </p:cNvPr>
          <p:cNvSpPr/>
          <p:nvPr/>
        </p:nvSpPr>
        <p:spPr>
          <a:xfrm>
            <a:off x="3840411" y="4701638"/>
            <a:ext cx="1099814" cy="931345"/>
          </a:xfrm>
          <a:custGeom>
            <a:avLst/>
            <a:gdLst/>
            <a:ahLst/>
            <a:cxnLst/>
            <a:rect l="l" t="t" r="r" b="b"/>
            <a:pathLst>
              <a:path w="1471457" h="1324311">
                <a:moveTo>
                  <a:pt x="0" y="0"/>
                </a:moveTo>
                <a:lnTo>
                  <a:pt x="1471457" y="0"/>
                </a:lnTo>
                <a:lnTo>
                  <a:pt x="1471457" y="1324311"/>
                </a:lnTo>
                <a:lnTo>
                  <a:pt x="0" y="13243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5">
            <a:extLst>
              <a:ext uri="{FF2B5EF4-FFF2-40B4-BE49-F238E27FC236}">
                <a16:creationId xmlns:a16="http://schemas.microsoft.com/office/drawing/2014/main" id="{9A150448-97A5-A843-65BA-0169EDCDB41B}"/>
              </a:ext>
            </a:extLst>
          </p:cNvPr>
          <p:cNvSpPr/>
          <p:nvPr/>
        </p:nvSpPr>
        <p:spPr>
          <a:xfrm>
            <a:off x="5940290" y="4701638"/>
            <a:ext cx="1419663" cy="931345"/>
          </a:xfrm>
          <a:custGeom>
            <a:avLst/>
            <a:gdLst/>
            <a:ahLst/>
            <a:cxnLst/>
            <a:rect l="l" t="t" r="r" b="b"/>
            <a:pathLst>
              <a:path w="1899388" h="1324311">
                <a:moveTo>
                  <a:pt x="0" y="0"/>
                </a:moveTo>
                <a:lnTo>
                  <a:pt x="1899388" y="0"/>
                </a:lnTo>
                <a:lnTo>
                  <a:pt x="1899388" y="1324311"/>
                </a:lnTo>
                <a:lnTo>
                  <a:pt x="0" y="13243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88FDCD38-AE9A-2E00-573B-B9301146ADD4}"/>
              </a:ext>
            </a:extLst>
          </p:cNvPr>
          <p:cNvSpPr/>
          <p:nvPr/>
        </p:nvSpPr>
        <p:spPr>
          <a:xfrm>
            <a:off x="8468328" y="4594696"/>
            <a:ext cx="1434797" cy="1038287"/>
          </a:xfrm>
          <a:custGeom>
            <a:avLst/>
            <a:gdLst/>
            <a:ahLst/>
            <a:cxnLst/>
            <a:rect l="l" t="t" r="r" b="b"/>
            <a:pathLst>
              <a:path w="1919636" h="1476375">
                <a:moveTo>
                  <a:pt x="0" y="0"/>
                </a:moveTo>
                <a:lnTo>
                  <a:pt x="1919636" y="0"/>
                </a:lnTo>
                <a:lnTo>
                  <a:pt x="1919636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35158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934"/>
            <a:ext cx="11466513" cy="6847065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EDEC9767-1B30-5160-F0A9-F3638EC1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Ejemplo de un </a:t>
            </a:r>
            <a:r>
              <a:rPr lang="es-ES" dirty="0">
                <a:latin typeface="TT Interphases"/>
              </a:rPr>
              <a:t>análisis</a:t>
            </a:r>
            <a:r>
              <a:rPr lang="es-ES" dirty="0"/>
              <a:t> de datos</a:t>
            </a:r>
            <a:endParaRPr lang="es-CO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Marcador de contenido 1">
                <a:extLst>
                  <a:ext uri="{FF2B5EF4-FFF2-40B4-BE49-F238E27FC236}">
                    <a16:creationId xmlns:a16="http://schemas.microsoft.com/office/drawing/2014/main" id="{C32D02C1-B412-E403-BD78-D20E84EBAC63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788988" y="1825625"/>
              <a:ext cx="9888537" cy="43513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Marcador de contenido 1">
                <a:extLst>
                  <a:ext uri="{FF2B5EF4-FFF2-40B4-BE49-F238E27FC236}">
                    <a16:creationId xmlns:a16="http://schemas.microsoft.com/office/drawing/2014/main" id="{C32D02C1-B412-E403-BD78-D20E84EBAC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8988" y="1825625"/>
                <a:ext cx="9888537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1455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1773B2-69D7-3B97-B592-E594A1A7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935"/>
            <a:ext cx="11466513" cy="684706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73DCD82-9153-68E4-54D4-A4874916D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latin typeface="TT Interphases"/>
              </a:rPr>
              <a:t>Gracias</a:t>
            </a:r>
            <a:endParaRPr lang="es-CO" dirty="0">
              <a:latin typeface="TT Interphase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C5564E-64A2-A25D-BC12-197F8B6227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23136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webextensions/webextension1.xml><?xml version="1.0" encoding="utf-8"?>
<we:webextension xmlns:we="http://schemas.microsoft.com/office/webextensions/webextension/2010/11" id="{3F9D7132-878E-40AF-AF22-F133ACA4F821}">
  <we:reference id="wa104379699" version="1.0.0.1" store="es-ES" storeType="OMEX"/>
  <we:alternateReferences>
    <we:reference id="wa104379699" version="1.0.0.1" store="wa104379699" storeType="OMEX"/>
  </we:alternateReferences>
  <we:properties>
    <we:property name="savedState" value="{&quot;groupId&quot;:&quot;&quot;,&quot;dashboardId&quot;:null,&quot;dashboardTileId&quot;:null,&quot;dashboardTileFilter&quot;:null,&quot;reportId&quot;:&quot;bd151094-e044-43b6-b620-db3cfb26faa6&quot;,&quot;pageName&quot;:&quot;c2c40db3c4f8f7aa07b2&quot;,&quot;publicReportUrl&quot;:null,&quot;lastState&quot;:&quot;app.embed.report&quot;,&quot;ReportBookmark&quot;:&quot;&quot;,&quot;ReportFilter&quot;:&quot;&quot;,&quot;ReportPageFilter&quot;:&quot;&quot;,&quot;ReportSlicers&quot;:&quot;&quot;,&quot;fromLogin&quot;:false,&quot;appVersion&quot;:&quot;1.0&quot;,&quot;savedDate&quot;:&quot;2025-10-29T23:50:47.557Z&quot;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105</TotalTime>
  <Words>559</Words>
  <Application>Microsoft Office PowerPoint</Application>
  <PresentationFormat>Personalizado</PresentationFormat>
  <Paragraphs>35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TT Interphases</vt:lpstr>
      <vt:lpstr>TT Interphases Bold</vt:lpstr>
      <vt:lpstr>Tema de Office</vt:lpstr>
      <vt:lpstr>Datos que Hablan</vt:lpstr>
      <vt:lpstr>¿Que hace un analista de datos?</vt:lpstr>
      <vt:lpstr>Habilidades del analista de datos</vt:lpstr>
      <vt:lpstr>Las partes de un análisis de datos</vt:lpstr>
      <vt:lpstr>Tipos de análisis de datos</vt:lpstr>
      <vt:lpstr>Aplicaciones del análisis de datos</vt:lpstr>
      <vt:lpstr>Ejemplo de un análisis de datos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mario velasquez pineda</dc:creator>
  <cp:lastModifiedBy>ramon stiven</cp:lastModifiedBy>
  <cp:revision>3</cp:revision>
  <dcterms:created xsi:type="dcterms:W3CDTF">2025-10-24T18:45:52Z</dcterms:created>
  <dcterms:modified xsi:type="dcterms:W3CDTF">2025-10-30T01:21:13Z</dcterms:modified>
</cp:coreProperties>
</file>